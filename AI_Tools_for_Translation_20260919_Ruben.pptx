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2"/>
    <p:sldId id="275" r:id="rId3"/>
    <p:sldId id="276" r:id="rId4"/>
    <p:sldId id="266" r:id="rId5"/>
    <p:sldId id="267" r:id="rId6"/>
    <p:sldId id="270" r:id="rId7"/>
    <p:sldId id="271" r:id="rId8"/>
    <p:sldId id="272" r:id="rId9"/>
    <p:sldId id="258" r:id="rId10"/>
    <p:sldId id="268" r:id="rId11"/>
    <p:sldId id="273" r:id="rId12"/>
    <p:sldId id="259" r:id="rId13"/>
    <p:sldId id="269" r:id="rId14"/>
    <p:sldId id="260" r:id="rId15"/>
    <p:sldId id="261" r:id="rId16"/>
    <p:sldId id="274" r:id="rId17"/>
    <p:sldId id="26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3" autoAdjust="0"/>
    <p:restoredTop sz="95164" autoAdjust="0"/>
  </p:normalViewPr>
  <p:slideViewPr>
    <p:cSldViewPr snapToGrid="0">
      <p:cViewPr varScale="1">
        <p:scale>
          <a:sx n="116" d="100"/>
          <a:sy n="116" d="100"/>
        </p:scale>
        <p:origin x="408" y="184"/>
      </p:cViewPr>
      <p:guideLst/>
    </p:cSldViewPr>
  </p:slideViewPr>
  <p:outlineViewPr>
    <p:cViewPr>
      <p:scale>
        <a:sx n="33" d="100"/>
        <a:sy n="33" d="100"/>
      </p:scale>
      <p:origin x="0" y="-5011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5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3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3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600"/>
            </a:lvl2pPr>
            <a:lvl3pPr>
              <a:defRPr sz="22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3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2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5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5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5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3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5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5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22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5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5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5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3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5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3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5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3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5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3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5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3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5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3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5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9/19/26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4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5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ben-tsui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aiwan-panorama.com/Articles/Details?Guid=4183d164-899b-4f49-af34-21abc8eea9d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rubentsui/TW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65A0-E867-4E41-B634-CAD987F53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157901"/>
            <a:ext cx="9630558" cy="2677648"/>
          </a:xfrm>
        </p:spPr>
        <p:txBody>
          <a:bodyPr/>
          <a:lstStyle/>
          <a:p>
            <a:pPr algn="r"/>
            <a:r>
              <a:rPr lang="zh-CN" altLang="en-US" sz="2000" b="1" dirty="0">
                <a:latin typeface="Helvetica" pitchFamily="2" charset="0"/>
                <a:ea typeface="Microsoft JhengHei UI" panose="020B0604030504040204" pitchFamily="34" charset="-120"/>
              </a:rPr>
              <a:t>臺師大翻譯所</a:t>
            </a:r>
            <a:r>
              <a:rPr lang="en-US" sz="2000" b="1" dirty="0">
                <a:latin typeface="Helvetica" pitchFamily="2" charset="0"/>
                <a:ea typeface="Microsoft JhengHei UI" panose="020B0604030504040204" pitchFamily="34" charset="-120"/>
              </a:rPr>
              <a:t> </a:t>
            </a:r>
            <a:r>
              <a:rPr lang="zh-CN" altLang="en-US" sz="2000" b="1" dirty="0">
                <a:latin typeface="Helvetica" pitchFamily="2" charset="0"/>
                <a:ea typeface="Microsoft JhengHei UI" panose="020B0604030504040204" pitchFamily="34" charset="-120"/>
              </a:rPr>
              <a:t>推廣班</a:t>
            </a:r>
            <a:r>
              <a:rPr lang="en-US" sz="2000" b="1" dirty="0">
                <a:latin typeface="Helvetica" pitchFamily="2" charset="0"/>
                <a:ea typeface="Microsoft JhengHei UI" panose="020B0604030504040204" pitchFamily="34" charset="-120"/>
              </a:rPr>
              <a:t> 115-1</a:t>
            </a:r>
            <a:r>
              <a:rPr lang="en-US" altLang="zh-CN" sz="2000" b="1" dirty="0">
                <a:latin typeface="Helvetica" pitchFamily="2" charset="0"/>
                <a:ea typeface="Microsoft JhengHei UI" panose="020B0604030504040204" pitchFamily="34" charset="-120"/>
              </a:rPr>
              <a:t>【</a:t>
            </a:r>
            <a:r>
              <a:rPr lang="zh-CN" altLang="en-US" sz="2000" b="1" dirty="0">
                <a:latin typeface="Helvetica" pitchFamily="2" charset="0"/>
                <a:ea typeface="Microsoft JhengHei UI" panose="020B0604030504040204" pitchFamily="34" charset="-120"/>
              </a:rPr>
              <a:t>筆譯</a:t>
            </a:r>
            <a:r>
              <a:rPr lang="en-US" sz="2000" b="1" dirty="0">
                <a:latin typeface="Helvetica" pitchFamily="2" charset="0"/>
                <a:ea typeface="Microsoft JhengHei UI" panose="020B0604030504040204" pitchFamily="34" charset="-120"/>
              </a:rPr>
              <a:t>6</a:t>
            </a:r>
            <a:r>
              <a:rPr lang="zh-CN" altLang="en-US" sz="2000" b="1" dirty="0">
                <a:latin typeface="Helvetica" pitchFamily="2" charset="0"/>
                <a:ea typeface="Microsoft JhengHei UI" panose="020B0604030504040204" pitchFamily="34" charset="-120"/>
              </a:rPr>
              <a:t>小時工作坊</a:t>
            </a:r>
            <a:r>
              <a:rPr lang="en-US" altLang="zh-CN" sz="2000" b="1" dirty="0">
                <a:latin typeface="Helvetica" pitchFamily="2" charset="0"/>
                <a:ea typeface="Microsoft JhengHei UI" panose="020B0604030504040204" pitchFamily="34" charset="-120"/>
              </a:rPr>
              <a:t>】</a:t>
            </a:r>
            <a:r>
              <a:rPr lang="en-US" sz="2000" b="1" dirty="0">
                <a:latin typeface="Helvetica" pitchFamily="2" charset="0"/>
                <a:ea typeface="Microsoft JhengHei UI" panose="020B0604030504040204" pitchFamily="34" charset="-120"/>
              </a:rPr>
              <a:t>AI</a:t>
            </a:r>
            <a:r>
              <a:rPr lang="zh-CN" altLang="en-US" sz="2000" b="1" dirty="0">
                <a:latin typeface="Helvetica" pitchFamily="2" charset="0"/>
                <a:ea typeface="Microsoft JhengHei UI" panose="020B0604030504040204" pitchFamily="34" charset="-120"/>
              </a:rPr>
              <a:t>翻譯科技入門</a:t>
            </a:r>
            <a:br>
              <a:rPr lang="en-TW" sz="2000" b="1" dirty="0">
                <a:latin typeface="Helvetica" pitchFamily="2" charset="0"/>
                <a:ea typeface="Microsoft JhengHei UI" panose="020B0604030504040204" pitchFamily="34" charset="-120"/>
              </a:rPr>
            </a:b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The Agentic AI Translator’s Workbench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AED9B-D444-4900-BC34-A33C100EA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330" y="3947289"/>
            <a:ext cx="10787329" cy="1647444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cap="none" dirty="0">
                <a:solidFill>
                  <a:schemeClr val="bg1"/>
                </a:solidFill>
              </a:rPr>
              <a:t>Moving from Chatbot Sessions to Productive Workflows</a:t>
            </a:r>
          </a:p>
          <a:p>
            <a:endParaRPr lang="en-US" b="1" cap="none" dirty="0">
              <a:solidFill>
                <a:schemeClr val="bg1"/>
              </a:solidFill>
            </a:endParaRPr>
          </a:p>
          <a:p>
            <a:pPr algn="ctr"/>
            <a:r>
              <a:rPr lang="en-US" b="1" cap="none" dirty="0">
                <a:solidFill>
                  <a:schemeClr val="bg1"/>
                </a:solidFill>
              </a:rPr>
              <a:t>Presented by Ruben G. Tsui </a:t>
            </a:r>
            <a:r>
              <a:rPr lang="zh-TW" altLang="en-US" b="1" cap="none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徐嘉煜</a:t>
            </a:r>
          </a:p>
          <a:p>
            <a:pPr algn="ctr"/>
            <a:r>
              <a:rPr lang="en-US" b="1" cap="none" dirty="0">
                <a:solidFill>
                  <a:schemeClr val="bg1"/>
                </a:solidFill>
              </a:rPr>
              <a:t>September 19, 2026</a:t>
            </a:r>
          </a:p>
          <a:p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418237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F4A3C-9406-AADE-FEE3-04387F0E2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A42A2-1734-93BC-A118-188BC688D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429" y="473725"/>
            <a:ext cx="8043334" cy="1663547"/>
          </a:xfrm>
        </p:spPr>
        <p:txBody>
          <a:bodyPr/>
          <a:lstStyle/>
          <a:p>
            <a:pPr marL="0" lvl="0" indent="0">
              <a:buNone/>
            </a:pPr>
            <a:r>
              <a:rPr lang="en-TW" sz="3600" dirty="0"/>
              <a:t>About the instructor</a:t>
            </a:r>
            <a:br>
              <a:rPr lang="en-TW" sz="4400" dirty="0"/>
            </a:br>
            <a:r>
              <a:rPr lang="en-TW" sz="4400" dirty="0"/>
              <a:t>Ruben G. Tsui </a:t>
            </a:r>
            <a:r>
              <a:rPr lang="en-TW" sz="4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徐嘉煜</a:t>
            </a:r>
            <a:endParaRPr sz="44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CE6D6-E801-D167-F82B-C1091DAF7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444" y="2396169"/>
            <a:ext cx="11183112" cy="4461831"/>
          </a:xfrm>
        </p:spPr>
        <p:txBody>
          <a:bodyPr>
            <a:normAutofit/>
          </a:bodyPr>
          <a:lstStyle/>
          <a:p>
            <a:r>
              <a:rPr lang="en-TW" sz="2800" dirty="0">
                <a:latin typeface="Helvetica" pitchFamily="2" charset="0"/>
                <a:ea typeface="Microsoft JhengHei UI" panose="020B0604030504040204" pitchFamily="34" charset="-120"/>
              </a:rPr>
              <a:t>天普大學 (Temple University) 保險精算系畢業</a:t>
            </a:r>
            <a:endParaRPr sz="2800" dirty="0">
              <a:latin typeface="Helvetica" pitchFamily="2" charset="0"/>
              <a:ea typeface="Microsoft JhengHei UI" panose="020B0604030504040204" pitchFamily="34" charset="-120"/>
            </a:endParaRPr>
          </a:p>
          <a:p>
            <a:r>
              <a:rPr lang="en-TW" sz="2800" dirty="0">
                <a:latin typeface="Helvetica" pitchFamily="2" charset="0"/>
                <a:ea typeface="Microsoft JhengHei UI" panose="020B0604030504040204" pitchFamily="34" charset="-120"/>
              </a:rPr>
              <a:t>臺大翻譯碩士學位學程畢業</a:t>
            </a:r>
          </a:p>
          <a:p>
            <a:r>
              <a:rPr lang="en-TW" sz="2800" dirty="0">
                <a:latin typeface="Helvetica" pitchFamily="2" charset="0"/>
                <a:ea typeface="Microsoft JhengHei UI" panose="020B0604030504040204" pitchFamily="34" charset="-120"/>
              </a:rPr>
              <a:t>臺師大翻譯所博士三年級</a:t>
            </a:r>
          </a:p>
          <a:p>
            <a:endParaRPr lang="en-TW" sz="2800" dirty="0">
              <a:latin typeface="Helvetica" pitchFamily="2" charset="0"/>
              <a:ea typeface="Microsoft JhengHei UI" panose="020B0604030504040204" pitchFamily="34" charset="-120"/>
            </a:endParaRPr>
          </a:p>
          <a:p>
            <a:r>
              <a:rPr lang="en-TW" sz="2800" dirty="0">
                <a:latin typeface="Helvetica" pitchFamily="2" charset="0"/>
                <a:ea typeface="Microsoft JhengHei UI" panose="020B0604030504040204" pitchFamily="34" charset="-120"/>
              </a:rPr>
              <a:t>自</a:t>
            </a:r>
            <a:r>
              <a:rPr lang="en-US" altLang="zh-TW" sz="2800" dirty="0">
                <a:latin typeface="Helvetica" pitchFamily="2" charset="0"/>
                <a:ea typeface="Microsoft JhengHei UI" panose="020B0604030504040204" pitchFamily="34" charset="-120"/>
              </a:rPr>
              <a:t>2008</a:t>
            </a:r>
            <a:r>
              <a:rPr lang="zh-TW" altLang="en-US" sz="2800" dirty="0">
                <a:latin typeface="Helvetica" pitchFamily="2" charset="0"/>
                <a:ea typeface="Microsoft JhengHei UI" panose="020B0604030504040204" pitchFamily="34" charset="-120"/>
              </a:rPr>
              <a:t>起擔任自由譯者：財經、大學法規、</a:t>
            </a:r>
            <a:r>
              <a:rPr lang="en-US" altLang="zh-TW" sz="2800" dirty="0">
                <a:latin typeface="Helvetica" pitchFamily="2" charset="0"/>
                <a:ea typeface="Microsoft JhengHei UI" panose="020B0604030504040204" pitchFamily="34" charset="-120"/>
              </a:rPr>
              <a:t>ESG</a:t>
            </a:r>
            <a:r>
              <a:rPr lang="zh-TW" altLang="en-US" sz="2800" dirty="0">
                <a:latin typeface="Helvetica" pitchFamily="2" charset="0"/>
                <a:ea typeface="Microsoft JhengHei UI" panose="020B0604030504040204" pitchFamily="34" charset="-120"/>
              </a:rPr>
              <a:t>報告、新聞、歷史</a:t>
            </a:r>
            <a:endParaRPr lang="en-US" altLang="zh-TW" sz="2800" dirty="0">
              <a:latin typeface="Helvetica" pitchFamily="2" charset="0"/>
              <a:ea typeface="Microsoft JhengHei UI" panose="020B0604030504040204" pitchFamily="34" charset="-120"/>
            </a:endParaRPr>
          </a:p>
          <a:p>
            <a:r>
              <a:rPr lang="en-TW" sz="2800" dirty="0">
                <a:latin typeface="Helvetica" pitchFamily="2" charset="0"/>
                <a:ea typeface="Microsoft JhengHei UI" panose="020B0604030504040204" pitchFamily="34" charset="-120"/>
              </a:rPr>
              <a:t>臺大翻譯碩士學位學程兼任講師</a:t>
            </a:r>
            <a:r>
              <a:rPr lang="zh-TW" altLang="en-US" sz="2800" dirty="0">
                <a:latin typeface="Helvetica" pitchFamily="2" charset="0"/>
                <a:ea typeface="Microsoft JhengHei UI" panose="020B0604030504040204" pitchFamily="34" charset="-120"/>
              </a:rPr>
              <a:t>（</a:t>
            </a:r>
            <a:r>
              <a:rPr lang="en-US" altLang="zh-TW" sz="2800" dirty="0">
                <a:latin typeface="Helvetica" pitchFamily="2" charset="0"/>
                <a:ea typeface="Microsoft JhengHei UI" panose="020B0604030504040204" pitchFamily="34" charset="-120"/>
              </a:rPr>
              <a:t>2022</a:t>
            </a:r>
            <a:r>
              <a:rPr lang="zh-TW" altLang="en-US" sz="2800" dirty="0">
                <a:latin typeface="Helvetica" pitchFamily="2" charset="0"/>
                <a:ea typeface="Microsoft JhengHei UI" panose="020B0604030504040204" pitchFamily="34" charset="-120"/>
              </a:rPr>
              <a:t>起）</a:t>
            </a:r>
            <a:endParaRPr lang="en-US" altLang="zh-TW" sz="2800" dirty="0">
              <a:latin typeface="Helvetica" pitchFamily="2" charset="0"/>
              <a:ea typeface="Microsoft JhengHei UI" panose="020B0604030504040204" pitchFamily="34" charset="-120"/>
            </a:endParaRPr>
          </a:p>
          <a:p>
            <a:r>
              <a:rPr lang="en-TW" sz="2800" dirty="0">
                <a:latin typeface="Helvetica" pitchFamily="2" charset="0"/>
                <a:ea typeface="Microsoft JhengHei UI" panose="020B0604030504040204" pitchFamily="34" charset="-120"/>
              </a:rPr>
              <a:t>臺師大翻譯所兼任講師</a:t>
            </a:r>
            <a:r>
              <a:rPr lang="zh-TW" altLang="en-US" sz="2800" dirty="0">
                <a:latin typeface="Helvetica" pitchFamily="2" charset="0"/>
                <a:ea typeface="Microsoft JhengHei UI" panose="020B0604030504040204" pitchFamily="34" charset="-120"/>
              </a:rPr>
              <a:t>（</a:t>
            </a:r>
            <a:r>
              <a:rPr lang="en-US" altLang="zh-TW" sz="2800" dirty="0">
                <a:latin typeface="Helvetica" pitchFamily="2" charset="0"/>
                <a:ea typeface="Microsoft JhengHei UI" panose="020B0604030504040204" pitchFamily="34" charset="-120"/>
              </a:rPr>
              <a:t>2025</a:t>
            </a:r>
            <a:r>
              <a:rPr lang="zh-TW" altLang="en-US" sz="2800" dirty="0">
                <a:latin typeface="Helvetica" pitchFamily="2" charset="0"/>
                <a:ea typeface="Microsoft JhengHei UI" panose="020B0604030504040204" pitchFamily="34" charset="-120"/>
              </a:rPr>
              <a:t>起）</a:t>
            </a:r>
            <a:endParaRPr lang="en-US" altLang="zh-TW" sz="2800" dirty="0">
              <a:latin typeface="Helvetica" pitchFamily="2" charset="0"/>
              <a:ea typeface="Microsoft JhengHei UI" panose="020B0604030504040204" pitchFamily="34" charset="-120"/>
            </a:endParaRPr>
          </a:p>
          <a:p>
            <a:r>
              <a:rPr lang="zh-TW" altLang="en-US" sz="2800" dirty="0">
                <a:latin typeface="Helvetica" pitchFamily="2" charset="0"/>
                <a:ea typeface="Microsoft JhengHei UI" panose="020B0604030504040204" pitchFamily="34" charset="-120"/>
              </a:rPr>
              <a:t>東吳大學英文系翻譯碩士班</a:t>
            </a:r>
            <a:r>
              <a:rPr lang="en-TW" sz="2800" dirty="0">
                <a:latin typeface="Helvetica" pitchFamily="2" charset="0"/>
                <a:ea typeface="Microsoft JhengHei UI" panose="020B0604030504040204" pitchFamily="34" charset="-120"/>
              </a:rPr>
              <a:t>兼任助理教授級專業技術人員</a:t>
            </a:r>
            <a:r>
              <a:rPr lang="zh-TW" altLang="en-US" sz="2800" dirty="0">
                <a:latin typeface="Helvetica" pitchFamily="2" charset="0"/>
                <a:ea typeface="Microsoft JhengHei UI" panose="020B0604030504040204" pitchFamily="34" charset="-120"/>
              </a:rPr>
              <a:t>（</a:t>
            </a:r>
            <a:r>
              <a:rPr lang="en-US" altLang="zh-TW" sz="2800" dirty="0">
                <a:latin typeface="Helvetica" pitchFamily="2" charset="0"/>
                <a:ea typeface="Microsoft JhengHei UI" panose="020B0604030504040204" pitchFamily="34" charset="-120"/>
              </a:rPr>
              <a:t>2026</a:t>
            </a:r>
            <a:r>
              <a:rPr lang="zh-TW" altLang="en-US" sz="2800" dirty="0">
                <a:latin typeface="Helvetica" pitchFamily="2" charset="0"/>
                <a:ea typeface="Microsoft JhengHei UI" panose="020B0604030504040204" pitchFamily="34" charset="-120"/>
              </a:rPr>
              <a:t>起）</a:t>
            </a:r>
            <a:endParaRPr sz="2800" dirty="0">
              <a:latin typeface="Helvetica" pitchFamily="2" charset="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755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177E-27F0-0488-D527-FDE3604C3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B8727-BD70-7326-6478-8281759EF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309" y="1741794"/>
            <a:ext cx="9630558" cy="3799689"/>
          </a:xfrm>
        </p:spPr>
        <p:txBody>
          <a:bodyPr/>
          <a:lstStyle/>
          <a:p>
            <a:br>
              <a:rPr lang="en-US" sz="32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</a:rPr>
            </a:br>
            <a:r>
              <a:rPr lang="zh-TW" altLang="en-US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本課程電子資源</a:t>
            </a:r>
            <a:br>
              <a:rPr lang="en-US" altLang="zh-TW" sz="72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https://github.com/ruben-tsui</a:t>
            </a:r>
            <a:br>
              <a:rPr lang="en-US" altLang="zh-CN" sz="3600" b="1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</a:rPr>
            </a:br>
            <a:br>
              <a:rPr lang="en-US" altLang="zh-CN" sz="3600" b="1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 </a:t>
            </a:r>
            <a:r>
              <a:rPr lang="en-US" sz="3600" dirty="0" err="1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點選左上角</a:t>
            </a:r>
            <a:r>
              <a:rPr lang="en-US" sz="36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sz="3600" b="1" i="1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Repositories</a:t>
            </a:r>
            <a:r>
              <a:rPr lang="en-US" sz="36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 </a:t>
            </a:r>
            <a:br>
              <a:rPr lang="en-US" sz="36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</a:br>
            <a:r>
              <a:rPr lang="en-US" sz="36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 </a:t>
            </a:r>
            <a:r>
              <a:rPr lang="en-US" sz="3600" dirty="0" err="1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點選</a:t>
            </a:r>
            <a:r>
              <a:rPr lang="zh-TW" altLang="en-US" sz="36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sz="3600" b="1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</a:rPr>
              <a:t>NTNU_GITI_TT_260919</a:t>
            </a:r>
            <a:endParaRPr lang="en-US" sz="3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480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776" y="2269475"/>
            <a:ext cx="11183112" cy="4461831"/>
          </a:xfrm>
        </p:spPr>
        <p:txBody>
          <a:bodyPr>
            <a:normAutofit/>
          </a:bodyPr>
          <a:lstStyle/>
          <a:p>
            <a:pPr marL="457200" lvl="0" indent="-457200">
              <a:buAutoNum type="arabicPeriod"/>
            </a:pPr>
            <a:r>
              <a:rPr sz="2800" b="1" dirty="0"/>
              <a:t>Environment Setup</a:t>
            </a:r>
            <a:r>
              <a:rPr sz="2800" dirty="0"/>
              <a:t>: Getting started with </a:t>
            </a:r>
            <a:r>
              <a:rPr sz="2800" b="1" dirty="0">
                <a:solidFill>
                  <a:srgbClr val="C00000"/>
                </a:solidFill>
              </a:rPr>
              <a:t>Google Cloud Shell</a:t>
            </a:r>
            <a:r>
              <a:rPr sz="2800" dirty="0"/>
              <a:t>.</a:t>
            </a:r>
          </a:p>
          <a:p>
            <a:pPr marL="457200" lvl="0" indent="-457200">
              <a:buAutoNum type="arabicPeriod"/>
            </a:pPr>
            <a:r>
              <a:rPr sz="2800" b="1" dirty="0"/>
              <a:t>Task 1: Bitext Alignment</a:t>
            </a:r>
            <a:r>
              <a:rPr sz="2800" dirty="0"/>
              <a:t>: </a:t>
            </a:r>
            <a:r>
              <a:rPr lang="en-US" sz="2800" dirty="0"/>
              <a:t>Aligning a </a:t>
            </a:r>
            <a:r>
              <a:rPr lang="en-US" sz="2800" i="1" dirty="0"/>
              <a:t>T</a:t>
            </a:r>
            <a:r>
              <a:rPr sz="2800" i="1" dirty="0"/>
              <a:t>aiwan Panorama</a:t>
            </a:r>
            <a:r>
              <a:rPr sz="2800" dirty="0"/>
              <a:t> article</a:t>
            </a:r>
            <a:r>
              <a:rPr lang="en-US" sz="2800" dirty="0"/>
              <a:t> pair at the sentence level; extracting g</a:t>
            </a:r>
            <a:r>
              <a:rPr sz="2800" dirty="0"/>
              <a:t>lossary </a:t>
            </a:r>
            <a:r>
              <a:rPr lang="en-US" sz="2800" dirty="0"/>
              <a:t>entries</a:t>
            </a:r>
            <a:br>
              <a:rPr lang="en-US" sz="2800" dirty="0"/>
            </a:b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《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光華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雜誌</a:t>
            </a:r>
            <a:r>
              <a:rPr lang="en-US" altLang="zh-CN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》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文本對齊</a:t>
            </a:r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句對齊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；術語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及專有名詞擷取</a:t>
            </a:r>
            <a:endParaRPr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lvl="0" indent="-457200">
              <a:buAutoNum type="arabicPeriod"/>
            </a:pPr>
            <a:r>
              <a:rPr sz="2800" b="1" dirty="0"/>
              <a:t>Task 2: Wuxia Translation</a:t>
            </a:r>
            <a:r>
              <a:rPr sz="2800" dirty="0"/>
              <a:t>: </a:t>
            </a:r>
            <a:r>
              <a:rPr lang="en-US" sz="2800" dirty="0"/>
              <a:t>Instructing AI to </a:t>
            </a:r>
            <a:r>
              <a:rPr sz="2800" dirty="0"/>
              <a:t>translat</a:t>
            </a:r>
            <a:r>
              <a:rPr lang="en-US" sz="2800" dirty="0"/>
              <a:t>e proper names and martial arts terminology </a:t>
            </a:r>
            <a:r>
              <a:rPr lang="en-US" sz="2800" i="1" dirty="0"/>
              <a:t>consistently</a:t>
            </a:r>
            <a:r>
              <a:rPr lang="en-US" sz="2800" dirty="0"/>
              <a:t> in a </a:t>
            </a:r>
            <a:r>
              <a:rPr lang="en-US" sz="2800" i="1" dirty="0"/>
              <a:t>wuxia</a:t>
            </a:r>
            <a:r>
              <a:rPr lang="en-US" sz="2800" dirty="0"/>
              <a:t> novel </a:t>
            </a:r>
            <a:r>
              <a:rPr sz="2800" dirty="0"/>
              <a:t>with </a:t>
            </a:r>
            <a:r>
              <a:rPr lang="en-US" sz="2800" dirty="0"/>
              <a:t>a curated glossary </a:t>
            </a:r>
            <a:r>
              <a:rPr lang="en-US" sz="28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正確翻譯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專有名詞及</a:t>
            </a:r>
            <a:r>
              <a:rPr lang="zh-CN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術語</a:t>
            </a:r>
            <a:endParaRPr sz="2800" dirty="0"/>
          </a:p>
          <a:p>
            <a:pPr marL="457200" lvl="0" indent="-457200">
              <a:buAutoNum type="arabicPeriod"/>
            </a:pPr>
            <a:r>
              <a:rPr sz="2800" b="1" dirty="0"/>
              <a:t>Task 3: OCR</a:t>
            </a:r>
            <a:r>
              <a:rPr lang="en-US" altLang="zh-TW" sz="2800" dirty="0"/>
              <a:t>: Extracting text from scanned </a:t>
            </a:r>
            <a:r>
              <a:rPr sz="2800" dirty="0"/>
              <a:t>Chinese text</a:t>
            </a:r>
            <a:r>
              <a:rPr lang="zh-TW" altLang="en-US" sz="2800" dirty="0"/>
              <a:t> </a:t>
            </a:r>
            <a:br>
              <a:rPr lang="en-US" altLang="zh-TW" sz="2800" dirty="0"/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以多模態</a:t>
            </a:r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AI 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模型進行掃描文件文字辨識</a:t>
            </a:r>
            <a:endParaRPr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080" y="654177"/>
            <a:ext cx="10245686" cy="1472078"/>
          </a:xfrm>
        </p:spPr>
        <p:txBody>
          <a:bodyPr/>
          <a:lstStyle/>
          <a:p>
            <a:r>
              <a:rPr lang="en-US" sz="4000" dirty="0"/>
              <a:t>Our Computing Environment for the Day</a:t>
            </a:r>
            <a:br>
              <a:rPr lang="en-US" sz="4000" dirty="0"/>
            </a:br>
            <a:r>
              <a:rPr lang="en-US" sz="2800" dirty="0"/>
              <a:t>Cloud-based; No Installation Required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636" y="2377440"/>
            <a:ext cx="11183112" cy="3963924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Google Cloud Shell</a:t>
            </a:r>
            <a:endParaRPr lang="en-TW" sz="3200" b="1" dirty="0">
              <a:solidFill>
                <a:srgbClr val="C00000"/>
              </a:solidFill>
            </a:endParaRPr>
          </a:p>
          <a:p>
            <a:pPr marL="457200" lvl="0" indent="-457200">
              <a:buAutoNum type="arabicPeriod"/>
            </a:pPr>
            <a:r>
              <a:rPr sz="3200" b="1" dirty="0"/>
              <a:t>Open your browser</a:t>
            </a:r>
            <a:r>
              <a:rPr sz="3200" dirty="0"/>
              <a:t> and go to</a:t>
            </a:r>
            <a:r>
              <a:rPr lang="en-TW" sz="3200" dirty="0"/>
              <a:t>:</a:t>
            </a:r>
            <a:r>
              <a:rPr sz="3200" dirty="0"/>
              <a:t> </a:t>
            </a:r>
            <a:r>
              <a:rPr sz="3200" b="1" dirty="0">
                <a:solidFill>
                  <a:srgbClr val="0070C0"/>
                </a:solidFill>
                <a:latin typeface="Consolas" panose="020B0609020204030204" pitchFamily="49" charset="0"/>
              </a:rPr>
              <a:t>https://shell.cloud.google.com</a:t>
            </a:r>
          </a:p>
          <a:p>
            <a:pPr marL="457200" lvl="0" indent="-457200">
              <a:buAutoNum type="arabicPeriod"/>
            </a:pPr>
            <a:r>
              <a:rPr sz="3200" b="1" dirty="0"/>
              <a:t>Sign in</a:t>
            </a:r>
            <a:r>
              <a:rPr sz="3200" dirty="0"/>
              <a:t> with your Google Account</a:t>
            </a:r>
          </a:p>
          <a:p>
            <a:pPr marL="457200" lvl="0" indent="-457200">
              <a:buAutoNum type="arabicPeriod"/>
            </a:pPr>
            <a:r>
              <a:rPr sz="3200" b="1" dirty="0"/>
              <a:t>Click “</a:t>
            </a:r>
            <a:r>
              <a:rPr lang="en-US" sz="3200" b="1" dirty="0"/>
              <a:t>Authorize</a:t>
            </a:r>
            <a:r>
              <a:rPr sz="3200" b="1" dirty="0"/>
              <a:t>”</a:t>
            </a:r>
            <a:r>
              <a:rPr sz="3200" dirty="0"/>
              <a:t> if prompted to start the terminal</a:t>
            </a:r>
          </a:p>
          <a:p>
            <a:pPr marL="457200" lvl="0" indent="-457200">
              <a:buAutoNum type="arabicPeriod"/>
            </a:pPr>
            <a:r>
              <a:rPr lang="en-US" sz="3200" dirty="0"/>
              <a:t>We’ll cover the </a:t>
            </a:r>
            <a:r>
              <a:rPr lang="en-US" sz="3200" b="1" dirty="0"/>
              <a:t>Editor</a:t>
            </a:r>
            <a:r>
              <a:rPr lang="en-US" sz="3200" dirty="0"/>
              <a:t> and </a:t>
            </a:r>
            <a:r>
              <a:rPr lang="en-US" sz="3200" b="1" dirty="0"/>
              <a:t>Terminal</a:t>
            </a:r>
            <a:r>
              <a:rPr lang="en-US" sz="3200" dirty="0"/>
              <a:t> </a:t>
            </a:r>
          </a:p>
          <a:p>
            <a:pPr marL="457200" lvl="0" indent="-457200">
              <a:buAutoNum type="arabicPeriod"/>
            </a:pPr>
            <a:r>
              <a:rPr lang="en-US" sz="3200" dirty="0"/>
              <a:t>What it is: A cloud-based Linux computing environment</a:t>
            </a:r>
            <a:endParaRPr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AAA8-CB13-5D9F-B5C0-AB6625755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42" y="1777593"/>
            <a:ext cx="5611258" cy="4560983"/>
          </a:xfrm>
        </p:spPr>
        <p:txBody>
          <a:bodyPr/>
          <a:lstStyle/>
          <a:p>
            <a:r>
              <a:rPr lang="en-TW" sz="3200" dirty="0"/>
              <a:t>Introducing the AI arness</a:t>
            </a:r>
            <a:br>
              <a:rPr lang="en-TW" dirty="0"/>
            </a:br>
            <a:r>
              <a:rPr lang="en-TW" dirty="0"/>
              <a:t>Antigravity CLI</a:t>
            </a:r>
            <a:br>
              <a:rPr lang="en-TW" dirty="0"/>
            </a:br>
            <a:br>
              <a:rPr lang="en-TW" dirty="0"/>
            </a:br>
            <a:r>
              <a:rPr lang="en-TW" sz="32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Consolas" panose="020B0609020204030204" pitchFamily="49" charset="0"/>
              </a:rPr>
              <a:t>練習資料包下載網址</a:t>
            </a:r>
            <a:br>
              <a:rPr lang="en-TW" sz="32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</a:rPr>
              <a:t>https://</a:t>
            </a:r>
            <a:r>
              <a:rPr lang="en-US" sz="1800" dirty="0" err="1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</a:rPr>
              <a:t>github.com</a:t>
            </a:r>
            <a:r>
              <a:rPr lang="en-US" sz="18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</a:rPr>
              <a:t>/</a:t>
            </a:r>
            <a:r>
              <a:rPr lang="en-US" sz="1800" dirty="0" err="1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</a:rPr>
              <a:t>ruben-tsui</a:t>
            </a:r>
            <a:br>
              <a:rPr lang="en-US" sz="18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</a:rPr>
            </a:br>
            <a:br>
              <a:rPr lang="en-US" sz="18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 </a:t>
            </a:r>
            <a:r>
              <a:rPr lang="en-US" sz="1800" dirty="0" err="1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點選左上角</a:t>
            </a:r>
            <a:r>
              <a:rPr lang="en-US" sz="18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sz="1800" i="1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Repositories</a:t>
            </a:r>
            <a:r>
              <a:rPr lang="en-US" sz="18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 </a:t>
            </a:r>
            <a:br>
              <a:rPr lang="en-US" sz="18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</a:br>
            <a:r>
              <a:rPr lang="en-US" sz="18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 </a:t>
            </a:r>
            <a:r>
              <a:rPr lang="en-US" sz="1800" dirty="0" err="1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點選</a:t>
            </a:r>
            <a:r>
              <a:rPr lang="en-US" sz="18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sz="1800" dirty="0">
                <a:latin typeface="Consolas" panose="020B0609020204030204" pitchFamily="49" charset="0"/>
                <a:ea typeface="Microsoft JhengHei UI" panose="020B0604030504040204" pitchFamily="34" charset="-120"/>
                <a:cs typeface="Consolas" panose="020B0609020204030204" pitchFamily="49" charset="0"/>
              </a:rPr>
              <a:t>NTNU_GITI_TT_260919</a:t>
            </a:r>
            <a:br>
              <a:rPr lang="en-TW" sz="32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Consolas" panose="020B0609020204030204" pitchFamily="49" charset="0"/>
              </a:rPr>
            </a:br>
            <a:endParaRPr lang="en-TW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Consolas" panose="020B06090202040302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59A7C-7A42-AB47-A760-3DAF02B1E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42172" y="4384713"/>
            <a:ext cx="5410282" cy="1953863"/>
          </a:xfrm>
        </p:spPr>
        <p:txBody>
          <a:bodyPr>
            <a:normAutofit fontScale="92500" lnSpcReduction="20000"/>
          </a:bodyPr>
          <a:lstStyle/>
          <a:p>
            <a:r>
              <a:rPr lang="en-US" cap="none" dirty="0">
                <a:solidFill>
                  <a:schemeClr val="tx1"/>
                </a:solidFill>
              </a:rPr>
              <a:t>You can install Antigravity CLI on your own computer with the command:</a:t>
            </a:r>
            <a:endParaRPr lang="en-TW" cap="none" dirty="0">
              <a:solidFill>
                <a:schemeClr val="tx1"/>
              </a:solidFill>
            </a:endParaRPr>
          </a:p>
          <a:p>
            <a:endParaRPr lang="en-US" cap="none" dirty="0">
              <a:solidFill>
                <a:schemeClr val="tx1"/>
              </a:solidFill>
            </a:endParaRPr>
          </a:p>
          <a:p>
            <a:r>
              <a:rPr lang="en-US" b="1" cap="none" dirty="0">
                <a:solidFill>
                  <a:schemeClr val="tx1"/>
                </a:solidFill>
              </a:rPr>
              <a:t>Visit the official website for more info: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https://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/google-antigravity/antigravity-cli</a:t>
            </a:r>
            <a:endParaRPr lang="en-TW" sz="2000" cap="none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425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66D4D-90EB-4710-36E5-BCDD82D5F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7C93-7AB1-F679-FCF8-05AAE1BB8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338" y="495759"/>
            <a:ext cx="10297906" cy="1509311"/>
          </a:xfrm>
        </p:spPr>
        <p:txBody>
          <a:bodyPr/>
          <a:lstStyle/>
          <a:p>
            <a:pPr lvl="0" algn="ctr"/>
            <a:r>
              <a:rPr lang="en-US" sz="3600" b="1" dirty="0"/>
              <a:t>What is Antigravity CLI?</a:t>
            </a:r>
            <a:br>
              <a:rPr lang="en-US" sz="3600" b="1" dirty="0"/>
            </a:br>
            <a:r>
              <a:rPr lang="en-US" sz="2800" dirty="0"/>
              <a:t>(CLI = </a:t>
            </a:r>
            <a:r>
              <a:rPr lang="en-US" sz="2800" dirty="0">
                <a:solidFill>
                  <a:srgbClr val="C00000"/>
                </a:solidFill>
              </a:rPr>
              <a:t>c</a:t>
            </a:r>
            <a:r>
              <a:rPr lang="en-US" sz="2800" dirty="0"/>
              <a:t>ommand-</a:t>
            </a:r>
            <a:r>
              <a:rPr lang="en-US" sz="2800" dirty="0">
                <a:solidFill>
                  <a:srgbClr val="C00000"/>
                </a:solidFill>
              </a:rPr>
              <a:t>l</a:t>
            </a:r>
            <a:r>
              <a:rPr lang="en-US" sz="2800" dirty="0"/>
              <a:t>ine </a:t>
            </a:r>
            <a:r>
              <a:rPr lang="en-US" sz="2800" dirty="0">
                <a:solidFill>
                  <a:srgbClr val="C00000"/>
                </a:solidFill>
              </a:rPr>
              <a:t>i</a:t>
            </a:r>
            <a:r>
              <a:rPr lang="en-US" sz="2800" dirty="0"/>
              <a:t>nterface)</a:t>
            </a:r>
            <a:br>
              <a:rPr lang="en-US" sz="2800" dirty="0"/>
            </a:br>
            <a:r>
              <a:rPr lang="en-US" sz="2800" dirty="0"/>
              <a:t>(opposite of GUI = </a:t>
            </a:r>
            <a:r>
              <a:rPr lang="en-US" sz="2800" dirty="0">
                <a:solidFill>
                  <a:srgbClr val="C00000"/>
                </a:solidFill>
              </a:rPr>
              <a:t>g</a:t>
            </a:r>
            <a:r>
              <a:rPr lang="en-US" sz="2800" dirty="0"/>
              <a:t>raphical </a:t>
            </a:r>
            <a:r>
              <a:rPr lang="en-US" sz="2800" dirty="0">
                <a:solidFill>
                  <a:srgbClr val="C00000"/>
                </a:solidFill>
              </a:rPr>
              <a:t>u</a:t>
            </a:r>
            <a:r>
              <a:rPr lang="en-US" sz="2800" dirty="0"/>
              <a:t>ser </a:t>
            </a:r>
            <a:r>
              <a:rPr lang="en-US" sz="2800" dirty="0">
                <a:solidFill>
                  <a:srgbClr val="C00000"/>
                </a:solidFill>
              </a:rPr>
              <a:t>i</a:t>
            </a:r>
            <a:r>
              <a:rPr lang="en-US" sz="2800" dirty="0"/>
              <a:t>nterface)</a:t>
            </a:r>
            <a:endParaRPr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41D55-6ED9-5BE0-AEA2-0C708937F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66" y="2577946"/>
            <a:ext cx="11203162" cy="3873145"/>
          </a:xfrm>
        </p:spPr>
        <p:txBody>
          <a:bodyPr>
            <a:normAutofit lnSpcReduction="10000"/>
          </a:bodyPr>
          <a:lstStyle/>
          <a:p>
            <a:r>
              <a:rPr lang="en-US" sz="3200" b="1" dirty="0"/>
              <a:t>Anthropic </a:t>
            </a:r>
            <a:r>
              <a:rPr lang="en-US" sz="3200" dirty="0"/>
              <a:t>released </a:t>
            </a:r>
            <a:r>
              <a:rPr lang="en-US" sz="3200" b="1" dirty="0">
                <a:solidFill>
                  <a:srgbClr val="C00000"/>
                </a:solidFill>
              </a:rPr>
              <a:t>Claude Code</a:t>
            </a:r>
            <a:r>
              <a:rPr lang="en-US" sz="3200" dirty="0"/>
              <a:t> in Feb. 2025 as an “agentic” command line tool that enables developers to delegate coding tasks directly from their terminal.</a:t>
            </a:r>
          </a:p>
          <a:p>
            <a:r>
              <a:rPr lang="en-US" sz="3200" dirty="0"/>
              <a:t>Other AI companies soon followed suit:</a:t>
            </a:r>
          </a:p>
          <a:p>
            <a:pPr lvl="1"/>
            <a:r>
              <a:rPr lang="en-US" sz="2600" b="1" dirty="0"/>
              <a:t>Google</a:t>
            </a:r>
            <a:r>
              <a:rPr lang="en-US" sz="2600" dirty="0"/>
              <a:t>: </a:t>
            </a:r>
            <a:r>
              <a:rPr lang="en-US" sz="2600" b="1" dirty="0">
                <a:solidFill>
                  <a:srgbClr val="C00000"/>
                </a:solidFill>
              </a:rPr>
              <a:t>Gemini CLI </a:t>
            </a:r>
            <a:r>
              <a:rPr lang="en-US" sz="2600" dirty="0"/>
              <a:t>(June 2025) </a:t>
            </a:r>
            <a:r>
              <a:rPr lang="en-US" sz="2600" dirty="0">
                <a:sym typeface="Wingdings" pitchFamily="2" charset="2"/>
              </a:rPr>
              <a:t> 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Antigravity</a:t>
            </a:r>
            <a:r>
              <a:rPr lang="en-US" sz="2600" dirty="0">
                <a:sym typeface="Wingdings" pitchFamily="2" charset="2"/>
              </a:rPr>
              <a:t> (Nov. 2025)  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Antigravity CLI </a:t>
            </a:r>
            <a:r>
              <a:rPr lang="en-US" sz="2600" dirty="0">
                <a:sym typeface="Wingdings" pitchFamily="2" charset="2"/>
              </a:rPr>
              <a:t>(August 2026)</a:t>
            </a:r>
          </a:p>
          <a:p>
            <a:pPr lvl="1"/>
            <a:r>
              <a:rPr lang="en-US" sz="2600" b="1" dirty="0">
                <a:sym typeface="Wingdings" pitchFamily="2" charset="2"/>
              </a:rPr>
              <a:t>OpenAI</a:t>
            </a:r>
            <a:r>
              <a:rPr lang="en-US" sz="2600" dirty="0">
                <a:sym typeface="Wingdings" pitchFamily="2" charset="2"/>
              </a:rPr>
              <a:t>: 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Codex</a:t>
            </a:r>
            <a:r>
              <a:rPr lang="en-US" sz="2600" dirty="0">
                <a:sym typeface="Wingdings" pitchFamily="2" charset="2"/>
              </a:rPr>
              <a:t> (May 2025; GUI, not CLI); now 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ChatGPT </a:t>
            </a:r>
            <a:r>
              <a:rPr lang="en-US" sz="2600" dirty="0">
                <a:sym typeface="Wingdings" pitchFamily="2" charset="2"/>
              </a:rPr>
              <a:t>app</a:t>
            </a:r>
            <a:endParaRPr lang="en-US" sz="2600" b="1" dirty="0">
              <a:solidFill>
                <a:srgbClr val="C00000"/>
              </a:solidFill>
              <a:sym typeface="Wingdings" pitchFamily="2" charset="2"/>
            </a:endParaRPr>
          </a:p>
          <a:p>
            <a:pPr lvl="1"/>
            <a:r>
              <a:rPr lang="en-US" sz="2600" dirty="0">
                <a:sym typeface="Wingdings" pitchFamily="2" charset="2"/>
              </a:rPr>
              <a:t>Open-source projects: </a:t>
            </a:r>
            <a:r>
              <a:rPr lang="en-US" sz="2600" b="1" dirty="0" err="1">
                <a:solidFill>
                  <a:srgbClr val="C00000"/>
                </a:solidFill>
                <a:sym typeface="Wingdings" pitchFamily="2" charset="2"/>
              </a:rPr>
              <a:t>OpenCode</a:t>
            </a:r>
            <a:r>
              <a:rPr lang="en-US" sz="2600" dirty="0">
                <a:sym typeface="Wingdings" pitchFamily="2" charset="2"/>
              </a:rPr>
              <a:t>; </a:t>
            </a:r>
            <a:r>
              <a:rPr lang="en-US" sz="2600" b="1" dirty="0">
                <a:solidFill>
                  <a:srgbClr val="C00000"/>
                </a:solidFill>
                <a:sym typeface="Wingdings" pitchFamily="2" charset="2"/>
              </a:rPr>
              <a:t>OpenClaw</a:t>
            </a:r>
            <a:r>
              <a:rPr lang="en-US" sz="2600" dirty="0">
                <a:sym typeface="Wingdings" pitchFamily="2" charset="2"/>
              </a:rPr>
              <a:t> (Nov. 2025)</a:t>
            </a:r>
          </a:p>
          <a:p>
            <a:pPr lvl="1"/>
            <a:endParaRPr sz="2600" dirty="0"/>
          </a:p>
          <a:p>
            <a:pPr marL="0" indent="0">
              <a:buNone/>
            </a:pPr>
            <a:endParaRPr sz="3200" b="1" dirty="0"/>
          </a:p>
        </p:txBody>
      </p:sp>
    </p:spTree>
    <p:extLst>
      <p:ext uri="{BB962C8B-B14F-4D97-AF65-F5344CB8AC3E}">
        <p14:creationId xmlns:p14="http://schemas.microsoft.com/office/powerpoint/2010/main" val="2060538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458B-779D-F617-574D-46A97AC59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14411-6AF8-9ED6-8185-C295F88C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338" y="495759"/>
            <a:ext cx="10297906" cy="1509311"/>
          </a:xfrm>
        </p:spPr>
        <p:txBody>
          <a:bodyPr/>
          <a:lstStyle/>
          <a:p>
            <a:pPr lvl="0" algn="ctr"/>
            <a:r>
              <a:rPr lang="en-US" sz="4000" b="1" dirty="0"/>
              <a:t>In a nutshell, Antigravity CLI …</a:t>
            </a:r>
            <a:endParaRPr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E1A6D-20D0-282C-D519-99756B80F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66" y="2236424"/>
            <a:ext cx="11203162" cy="4621576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… is a coding agent powered by Google’s LLMs; it can generate computer programming code (e.g., Python)</a:t>
            </a:r>
          </a:p>
          <a:p>
            <a:r>
              <a:rPr lang="en-US" sz="3200" dirty="0"/>
              <a:t>But it’s more than that. You can instruct it to do much more.</a:t>
            </a:r>
          </a:p>
          <a:p>
            <a:r>
              <a:rPr lang="en-US" sz="3200" dirty="0"/>
              <a:t>Evolution of AI Technology:</a:t>
            </a:r>
          </a:p>
          <a:p>
            <a:pPr lvl="1"/>
            <a:r>
              <a:rPr lang="en-US" sz="2800" dirty="0"/>
              <a:t>LLM (Generative AI): A language model that predicts the next likely token (word, audio segment, pixels, etc.)</a:t>
            </a:r>
          </a:p>
          <a:p>
            <a:pPr lvl="1"/>
            <a:r>
              <a:rPr lang="en-US" sz="2800" dirty="0"/>
              <a:t>Chatbot: Built upon an LLM to interact with humans</a:t>
            </a:r>
          </a:p>
          <a:p>
            <a:pPr lvl="1"/>
            <a:r>
              <a:rPr lang="en-US" sz="2800" dirty="0"/>
              <a:t>AI Agent (Agentic AI): Uses an LLM as its “brain” to </a:t>
            </a:r>
            <a:r>
              <a:rPr lang="en-US" sz="2800" b="1" dirty="0"/>
              <a:t>design</a:t>
            </a:r>
            <a:r>
              <a:rPr lang="en-US" sz="2800" dirty="0"/>
              <a:t> and </a:t>
            </a:r>
            <a:r>
              <a:rPr lang="en-US" sz="2800" b="1" dirty="0"/>
              <a:t>execute</a:t>
            </a:r>
            <a:r>
              <a:rPr lang="en-US" sz="2800" dirty="0"/>
              <a:t> a solution to solve a problem</a:t>
            </a:r>
          </a:p>
        </p:txBody>
      </p:sp>
    </p:spTree>
    <p:extLst>
      <p:ext uri="{BB962C8B-B14F-4D97-AF65-F5344CB8AC3E}">
        <p14:creationId xmlns:p14="http://schemas.microsoft.com/office/powerpoint/2010/main" val="2017812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338" y="495759"/>
            <a:ext cx="11033778" cy="1509311"/>
          </a:xfrm>
        </p:spPr>
        <p:txBody>
          <a:bodyPr/>
          <a:lstStyle/>
          <a:p>
            <a:pPr marL="0" lvl="0" indent="0" algn="ctr">
              <a:buNone/>
            </a:pPr>
            <a:r>
              <a:rPr sz="3600" dirty="0"/>
              <a:t>Task 1:</a:t>
            </a:r>
            <a:r>
              <a:rPr sz="3200" dirty="0"/>
              <a:t> </a:t>
            </a:r>
            <a:br>
              <a:rPr lang="en-US" sz="4400" dirty="0"/>
            </a:br>
            <a:r>
              <a:rPr sz="4000" dirty="0"/>
              <a:t>Bitext </a:t>
            </a:r>
            <a:r>
              <a:rPr lang="en-US" sz="4000" dirty="0"/>
              <a:t>Alignment </a:t>
            </a:r>
            <a:r>
              <a:rPr sz="4000" dirty="0"/>
              <a:t>&amp; Glossary</a:t>
            </a:r>
            <a:r>
              <a:rPr lang="en-US" sz="4000" dirty="0"/>
              <a:t> Extraction </a:t>
            </a:r>
            <a:r>
              <a:rPr lang="en-US" sz="3600" dirty="0"/>
              <a:t>(1/3)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419" y="2235708"/>
            <a:ext cx="11203162" cy="458571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sz="3200" b="1" dirty="0"/>
              <a:t>Scenario: </a:t>
            </a:r>
            <a:r>
              <a:rPr sz="3200" b="1" i="1" dirty="0">
                <a:solidFill>
                  <a:srgbClr val="C00000"/>
                </a:solidFill>
              </a:rPr>
              <a:t>Taiwan Panorama</a:t>
            </a:r>
            <a:r>
              <a:rPr sz="3200" b="1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a</a:t>
            </a:r>
            <a:r>
              <a:rPr sz="3200" dirty="0"/>
              <a:t>rticle</a:t>
            </a:r>
            <a:r>
              <a:rPr lang="en-US" sz="3200" dirty="0"/>
              <a:t> from:</a:t>
            </a:r>
          </a:p>
          <a:p>
            <a:pPr lvl="1">
              <a:spcBef>
                <a:spcPts val="1200"/>
              </a:spcBef>
            </a:pPr>
            <a:r>
              <a:rPr lang="en-US" sz="2600" dirty="0">
                <a:hlinkClick r:id="rId2"/>
              </a:rPr>
              <a:t>https://www.taiwan-panorama.com/Articles/Details?Guid=4183d164-899b-4f49-af34-21abc8eea9de</a:t>
            </a:r>
            <a:endParaRPr lang="en-US" sz="2600" dirty="0"/>
          </a:p>
          <a:p>
            <a:pPr>
              <a:spcBef>
                <a:spcPts val="1200"/>
              </a:spcBef>
            </a:pPr>
            <a:r>
              <a:rPr sz="3200" b="1" dirty="0"/>
              <a:t>Goal</a:t>
            </a:r>
            <a:r>
              <a:rPr sz="3200" dirty="0"/>
              <a:t>: Align </a:t>
            </a:r>
            <a:r>
              <a:rPr lang="en-US" sz="3200" dirty="0"/>
              <a:t>the Chinese (source) and its English translation/adaptation at the sentence level,</a:t>
            </a:r>
            <a:r>
              <a:rPr sz="3200" dirty="0"/>
              <a:t> and harvest</a:t>
            </a:r>
            <a:r>
              <a:rPr lang="en-US" sz="3200" dirty="0"/>
              <a:t> bilingual</a:t>
            </a:r>
            <a:r>
              <a:rPr sz="3200" dirty="0"/>
              <a:t> cultural terms</a:t>
            </a:r>
          </a:p>
          <a:p>
            <a:pPr>
              <a:spcBef>
                <a:spcPts val="1200"/>
              </a:spcBef>
            </a:pPr>
            <a:r>
              <a:rPr lang="en-US" sz="3200" b="1" dirty="0"/>
              <a:t>What to do</a:t>
            </a:r>
            <a:r>
              <a:rPr lang="en-US" sz="3200" dirty="0"/>
              <a:t>: Create a file </a:t>
            </a:r>
            <a:r>
              <a:rPr lang="en-US" sz="3200" b="1" dirty="0">
                <a:solidFill>
                  <a:srgbClr val="0070C0"/>
                </a:solidFill>
              </a:rPr>
              <a:t>TWP.md </a:t>
            </a:r>
            <a:r>
              <a:rPr lang="en-US" sz="3200" dirty="0"/>
              <a:t>in the </a:t>
            </a:r>
            <a:r>
              <a:rPr lang="en-US" sz="3200" b="1" dirty="0"/>
              <a:t>Editor</a:t>
            </a:r>
            <a:r>
              <a:rPr lang="en-US" sz="3200" dirty="0"/>
              <a:t> with the following instructions (</a:t>
            </a:r>
            <a:r>
              <a:rPr lang="en-US" sz="3200" b="1" dirty="0">
                <a:solidFill>
                  <a:srgbClr val="0070C0"/>
                </a:solidFill>
              </a:rPr>
              <a:t>.md</a:t>
            </a:r>
            <a:r>
              <a:rPr lang="en-US" sz="3200" dirty="0"/>
              <a:t> stands for </a:t>
            </a:r>
            <a:r>
              <a:rPr lang="en-US" sz="3200" b="1" dirty="0"/>
              <a:t>Markdown</a:t>
            </a:r>
            <a:r>
              <a:rPr lang="en-US" sz="3200" dirty="0"/>
              <a:t>)</a:t>
            </a:r>
            <a:r>
              <a:rPr sz="3200" b="1" dirty="0"/>
              <a:t>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0F32-8D4B-D93D-B54D-6FB82F5B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7CA9D-0C8A-8CD6-0C3C-16C244A88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338" y="297456"/>
            <a:ext cx="10901574" cy="2044896"/>
          </a:xfrm>
        </p:spPr>
        <p:txBody>
          <a:bodyPr/>
          <a:lstStyle/>
          <a:p>
            <a:pPr lvl="0" algn="ctr"/>
            <a:r>
              <a:rPr sz="3600" dirty="0"/>
              <a:t>Task 1:</a:t>
            </a:r>
            <a:r>
              <a:rPr sz="3200" dirty="0"/>
              <a:t> </a:t>
            </a:r>
            <a:br>
              <a:rPr lang="en-US" sz="4400" dirty="0"/>
            </a:br>
            <a:r>
              <a:rPr sz="4000" dirty="0"/>
              <a:t>Bitext </a:t>
            </a:r>
            <a:r>
              <a:rPr lang="en-US" sz="4000" dirty="0"/>
              <a:t>Alignment </a:t>
            </a:r>
            <a:r>
              <a:rPr sz="4000" dirty="0"/>
              <a:t>&amp; Glossary</a:t>
            </a:r>
            <a:r>
              <a:rPr lang="en-US" sz="4000" dirty="0"/>
              <a:t> Extraction </a:t>
            </a:r>
            <a:r>
              <a:rPr lang="en-US" sz="3600" dirty="0"/>
              <a:t>(2/3)</a:t>
            </a:r>
            <a:endParaRPr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07E29-EA7F-E22F-4F21-1C249D85B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09" y="2265233"/>
            <a:ext cx="11612603" cy="4251960"/>
          </a:xfrm>
        </p:spPr>
        <p:txBody>
          <a:bodyPr>
            <a:normAutofit fontScale="92500" lnSpcReduction="10000"/>
          </a:bodyPr>
          <a:lstStyle/>
          <a:p>
            <a:pPr lv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## Tasks</a:t>
            </a:r>
          </a:p>
          <a:p>
            <a:pPr lv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1. Perform bitext alignment at the sentence level on the following pair of files </a:t>
            </a:r>
            <a:r>
              <a:rPr lang="en-US" sz="2400" b="1" dirty="0">
                <a:solidFill>
                  <a:srgbClr val="4070A0"/>
                </a:solidFill>
                <a:latin typeface="Consolas" panose="020B0609020204030204" pitchFamily="49" charset="0"/>
              </a:rPr>
              <a:t>@tea.zh.txt 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(source) </a:t>
            </a:r>
            <a:r>
              <a:rPr lang="en-US" sz="2400" b="1" dirty="0">
                <a:latin typeface="Consolas" panose="020B0609020204030204" pitchFamily="49" charset="0"/>
              </a:rPr>
              <a:t>and</a:t>
            </a:r>
            <a:r>
              <a:rPr lang="en-US" sz="2400" b="1" dirty="0">
                <a:solidFill>
                  <a:srgbClr val="4070A0"/>
                </a:solidFill>
                <a:latin typeface="Consolas" panose="020B0609020204030204" pitchFamily="49" charset="0"/>
              </a:rPr>
              <a:t> @tea.en.txt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 (target).</a:t>
            </a:r>
            <a:r>
              <a:rPr lang="en-US" sz="2400" b="1" dirty="0">
                <a:solidFill>
                  <a:srgbClr val="4070A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Use the LLM to perform the alignment instead of a Python script. Place each aligned segment pair on the same line, with a tab character separating the source and target segments. If there’s no matching target sentence(s), just leave the target string empty. Name the aligned text "</a:t>
            </a:r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tea.zh-en.txt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".</a:t>
            </a:r>
          </a:p>
          <a:p>
            <a:pPr lv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2. E</a:t>
            </a:r>
            <a:r>
              <a:rPr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xtract a glossary of Taiwan-specific cultural terms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. Include as many entries as possible, but no fewer than 30. Place each </a:t>
            </a:r>
            <a:r>
              <a:rPr lang="en-US" sz="2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zh-en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 glossary pair on the same line, with the two parts separated by a tab character. Name the glossary file "</a:t>
            </a:r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tea.glossary.zh-en.txt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".</a:t>
            </a:r>
            <a:endParaRPr sz="3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961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60350-2CEA-13DE-DEC1-7FDE9A568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3370-2329-B57E-1238-8B3F3B3C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338" y="297456"/>
            <a:ext cx="10297906" cy="2044896"/>
          </a:xfrm>
        </p:spPr>
        <p:txBody>
          <a:bodyPr/>
          <a:lstStyle/>
          <a:p>
            <a:pPr lvl="0" algn="ctr"/>
            <a:r>
              <a:rPr sz="3600" dirty="0"/>
              <a:t>Task 1:</a:t>
            </a:r>
            <a:r>
              <a:rPr sz="3200" dirty="0"/>
              <a:t> </a:t>
            </a:r>
            <a:br>
              <a:rPr lang="en-US" sz="4400" dirty="0"/>
            </a:br>
            <a:r>
              <a:rPr sz="4000" dirty="0"/>
              <a:t>Bitext </a:t>
            </a:r>
            <a:r>
              <a:rPr lang="en-US" sz="4000" dirty="0"/>
              <a:t>Alignment </a:t>
            </a:r>
            <a:r>
              <a:rPr sz="4000" dirty="0"/>
              <a:t>&amp; Glossary</a:t>
            </a:r>
            <a:r>
              <a:rPr lang="en-US" sz="4000" dirty="0"/>
              <a:t> Extraction </a:t>
            </a:r>
            <a:r>
              <a:rPr lang="en-US" sz="3600" dirty="0"/>
              <a:t>(3/3)</a:t>
            </a:r>
            <a:endParaRPr sz="4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E6A06F-B29C-BDE3-93D3-4FBFD9327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66" y="2478796"/>
            <a:ext cx="11203162" cy="423047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3200" dirty="0"/>
              <a:t>Next launch Gemini CLU by typing </a:t>
            </a:r>
            <a:r>
              <a:rPr lang="en-US" sz="2800" b="1" dirty="0" err="1">
                <a:solidFill>
                  <a:srgbClr val="0070C0"/>
                </a:solidFill>
              </a:rPr>
              <a:t>agy</a:t>
            </a:r>
            <a:r>
              <a:rPr lang="en-US" sz="3200" dirty="0"/>
              <a:t> (followed by ENTER) in the Cloud Shell Terminal. </a:t>
            </a:r>
            <a:r>
              <a:rPr lang="en-US" sz="2000" dirty="0">
                <a:solidFill>
                  <a:srgbClr val="0070C0"/>
                </a:solidFill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/model</a:t>
            </a:r>
            <a:r>
              <a:rPr lang="en-US" sz="2000" dirty="0">
                <a:solidFill>
                  <a:srgbClr val="0070C0"/>
                </a:solidFill>
              </a:rPr>
              <a:t> to change models]</a:t>
            </a:r>
            <a:endParaRPr lang="en-US" sz="3200" dirty="0">
              <a:solidFill>
                <a:srgbClr val="0070C0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3200" dirty="0"/>
              <a:t>Type the command at Antigravity CLI’s own input prompt:</a:t>
            </a:r>
            <a:r>
              <a:rPr sz="3200" b="1" dirty="0"/>
              <a:t> </a:t>
            </a:r>
            <a:endParaRPr lang="en-US" sz="3200" b="1" dirty="0"/>
          </a:p>
          <a:p>
            <a:pPr lvl="1">
              <a:spcBef>
                <a:spcPts val="1800"/>
              </a:spcBef>
            </a:pPr>
            <a:r>
              <a:rPr lang="en-US" sz="2800" b="1" dirty="0">
                <a:solidFill>
                  <a:srgbClr val="0070C0"/>
                </a:solidFill>
              </a:rPr>
              <a:t>Execute @</a:t>
            </a:r>
            <a:r>
              <a:rPr lang="en-US" sz="2800" b="1" dirty="0" err="1">
                <a:solidFill>
                  <a:srgbClr val="0070C0"/>
                </a:solidFill>
              </a:rPr>
              <a:t>TWP.md</a:t>
            </a:r>
            <a:r>
              <a:rPr lang="en-US" sz="2800" b="1" dirty="0">
                <a:solidFill>
                  <a:srgbClr val="0070C0"/>
                </a:solidFill>
              </a:rPr>
              <a:t> please.  </a:t>
            </a:r>
            <a:br>
              <a:rPr lang="en-US" sz="2800" b="1" dirty="0">
                <a:solidFill>
                  <a:srgbClr val="0070C0"/>
                </a:solidFill>
              </a:rPr>
            </a:br>
            <a:r>
              <a:rPr lang="en-US" sz="1000" b="1" dirty="0">
                <a:solidFill>
                  <a:srgbClr val="0070C0"/>
                </a:solidFill>
              </a:rPr>
              <a:t> </a:t>
            </a:r>
            <a:br>
              <a:rPr lang="en-US" sz="2800" b="1" dirty="0">
                <a:solidFill>
                  <a:srgbClr val="0070C0"/>
                </a:solidFill>
              </a:rPr>
            </a:br>
            <a:r>
              <a:rPr lang="en-US" sz="2800" dirty="0"/>
              <a:t>Then hit ENTER; wait for results (the 2 generated output files)</a:t>
            </a:r>
          </a:p>
          <a:p>
            <a:pPr>
              <a:spcBef>
                <a:spcPts val="1200"/>
              </a:spcBef>
            </a:pPr>
            <a:r>
              <a:rPr lang="en-US" sz="3200" dirty="0"/>
              <a:t>You may download the generated files to your laptop by right-clicking the file name and select “Download…”.</a:t>
            </a:r>
          </a:p>
        </p:txBody>
      </p:sp>
    </p:spTree>
    <p:extLst>
      <p:ext uri="{BB962C8B-B14F-4D97-AF65-F5344CB8AC3E}">
        <p14:creationId xmlns:p14="http://schemas.microsoft.com/office/powerpoint/2010/main" val="237712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014" y="2467784"/>
            <a:ext cx="11229933" cy="4056460"/>
          </a:xfrm>
        </p:spPr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sz="2800" b="1" dirty="0"/>
              <a:t>Scenario:</a:t>
            </a:r>
            <a:r>
              <a:rPr lang="en-US" sz="2800" b="1" dirty="0"/>
              <a:t> </a:t>
            </a:r>
            <a:r>
              <a:rPr lang="en-US" sz="2800" dirty="0"/>
              <a:t>You’d like to translate a few chapters of Jin</a:t>
            </a:r>
            <a:r>
              <a:rPr sz="2800" dirty="0"/>
              <a:t> Yong’s </a:t>
            </a:r>
            <a:r>
              <a:rPr sz="2800" i="1" dirty="0"/>
              <a:t>Legend of the Condor Heroes</a:t>
            </a:r>
            <a:r>
              <a:rPr lang="en-US" sz="2800" i="1" dirty="0"/>
              <a:t> </a:t>
            </a:r>
            <a:r>
              <a:rPr lang="en-US" sz="2800" dirty="0"/>
              <a:t>from Chinese into English.</a:t>
            </a:r>
            <a:endParaRPr sz="2800" dirty="0"/>
          </a:p>
          <a:p>
            <a:r>
              <a:rPr sz="2800" b="1" dirty="0"/>
              <a:t>Challenge</a:t>
            </a:r>
            <a:r>
              <a:rPr sz="2800" dirty="0"/>
              <a:t>: </a:t>
            </a:r>
            <a:r>
              <a:rPr lang="en-US" sz="2800" dirty="0">
                <a:solidFill>
                  <a:srgbClr val="C00000"/>
                </a:solidFill>
              </a:rPr>
              <a:t>Consistently </a:t>
            </a:r>
            <a:r>
              <a:rPr lang="en-US" sz="2800" dirty="0"/>
              <a:t>translated proper names and </a:t>
            </a:r>
            <a:r>
              <a:rPr sz="2800" i="1" dirty="0"/>
              <a:t>Kung Fu</a:t>
            </a:r>
            <a:r>
              <a:rPr sz="2800" dirty="0"/>
              <a:t> terminology across chapters</a:t>
            </a:r>
          </a:p>
          <a:p>
            <a:r>
              <a:rPr sz="2800" b="1" dirty="0"/>
              <a:t>The Solution</a:t>
            </a:r>
            <a:r>
              <a:rPr sz="2800" dirty="0"/>
              <a:t>: Provide a glossary as a “</a:t>
            </a:r>
            <a:r>
              <a:rPr lang="en-US" sz="2800" dirty="0">
                <a:solidFill>
                  <a:srgbClr val="C00000"/>
                </a:solidFill>
              </a:rPr>
              <a:t>s</a:t>
            </a:r>
            <a:r>
              <a:rPr sz="2800" dirty="0">
                <a:solidFill>
                  <a:srgbClr val="C00000"/>
                </a:solidFill>
              </a:rPr>
              <a:t>ource of </a:t>
            </a:r>
            <a:r>
              <a:rPr lang="en-US" sz="2800" dirty="0">
                <a:solidFill>
                  <a:srgbClr val="C00000"/>
                </a:solidFill>
              </a:rPr>
              <a:t>t</a:t>
            </a:r>
            <a:r>
              <a:rPr sz="2800" dirty="0">
                <a:solidFill>
                  <a:srgbClr val="C00000"/>
                </a:solidFill>
              </a:rPr>
              <a:t>ruth</a:t>
            </a:r>
            <a:r>
              <a:rPr sz="2800" dirty="0"/>
              <a:t>”</a:t>
            </a:r>
            <a:r>
              <a:rPr lang="en-US" sz="2800" dirty="0"/>
              <a:t> (ultimate authority that overrides the model’s own “internal knowledge”)</a:t>
            </a:r>
            <a:endParaRPr sz="2800" dirty="0"/>
          </a:p>
          <a:p>
            <a:r>
              <a:rPr lang="en-US" sz="2800" b="1" dirty="0"/>
              <a:t>What to do</a:t>
            </a:r>
            <a:r>
              <a:rPr lang="en-US" sz="2800" dirty="0"/>
              <a:t>: Create a file </a:t>
            </a:r>
            <a:r>
              <a:rPr lang="en-US" sz="28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CONDOR.md</a:t>
            </a:r>
            <a:r>
              <a:rPr lang="en-US" sz="28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/>
              <a:t>with the following instructions</a:t>
            </a:r>
            <a:r>
              <a:rPr lang="en-US" sz="2800" b="1" dirty="0"/>
              <a:t>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3E2D9C-EB8A-457E-1CA4-10B68810993A}"/>
              </a:ext>
            </a:extLst>
          </p:cNvPr>
          <p:cNvSpPr txBox="1">
            <a:spLocks/>
          </p:cNvSpPr>
          <p:nvPr/>
        </p:nvSpPr>
        <p:spPr bwMode="gray">
          <a:xfrm>
            <a:off x="974718" y="253387"/>
            <a:ext cx="10427740" cy="16767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2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600" dirty="0"/>
              <a:t>Task 2:</a:t>
            </a:r>
            <a:br>
              <a:rPr lang="en-US" dirty="0"/>
            </a:br>
            <a:r>
              <a:rPr lang="en-US" sz="3200" dirty="0"/>
              <a:t>Instruct AI to adopt your glossary when translating (1/2) </a:t>
            </a:r>
            <a:endParaRPr lang="en-US" sz="44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52F58DB-B8AF-9D4C-9CB6-2471EB195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W" altLang="en-TW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" panose="020B0604020202020204" pitchFamily="34" charset="0"/>
                <a:ea typeface="Google Sans" pitchFamily="2" charset="0"/>
              </a:rPr>
              <a:t>means the glossary acts as the </a:t>
            </a:r>
            <a:r>
              <a:rPr kumimoji="0" lang="en-TW" altLang="en-TW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" panose="020B0604020202020204" pitchFamily="34" charset="0"/>
                <a:ea typeface="Google Sans" pitchFamily="2" charset="0"/>
              </a:rPr>
              <a:t>ultimate authority that overrides the model’s own "internal knowledge."</a:t>
            </a:r>
            <a:endParaRPr kumimoji="0" lang="en-TW" altLang="en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4068F7B-ED6B-2824-0ACA-503EBD01A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W" altLang="en-TW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" panose="020B0604020202020204" pitchFamily="34" charset="0"/>
                <a:ea typeface="Google Sans" pitchFamily="2" charset="0"/>
              </a:rPr>
              <a:t>means the glossary acts as the </a:t>
            </a:r>
            <a:r>
              <a:rPr kumimoji="0" lang="en-TW" altLang="en-TW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" panose="020B0604020202020204" pitchFamily="34" charset="0"/>
                <a:ea typeface="Google Sans" pitchFamily="2" charset="0"/>
              </a:rPr>
              <a:t>ultimate authority that overrides the model’s own "internal knowledge."</a:t>
            </a:r>
            <a:endParaRPr kumimoji="0" lang="en-TW" altLang="en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195C0-7F25-E3BA-172D-0A3CD37DF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5026E-DE39-8C28-AD5E-85C06FB7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35" y="333756"/>
            <a:ext cx="11034329" cy="1676706"/>
          </a:xfrm>
        </p:spPr>
        <p:txBody>
          <a:bodyPr/>
          <a:lstStyle/>
          <a:p>
            <a:pPr lvl="0" algn="ctr"/>
            <a:r>
              <a:rPr sz="3600" dirty="0"/>
              <a:t>Task 2</a:t>
            </a:r>
            <a:r>
              <a:rPr lang="en-US" sz="3600" dirty="0"/>
              <a:t>:</a:t>
            </a:r>
            <a:br>
              <a:rPr lang="en-US" dirty="0"/>
            </a:br>
            <a:r>
              <a:rPr lang="en-US" sz="3200" dirty="0"/>
              <a:t>Instruct AI to adopt your your glossary when translating (2/2)</a:t>
            </a:r>
            <a:endParaRPr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34578-9178-FB94-5FC6-8DD8E8B10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014" y="2181340"/>
            <a:ext cx="11230594" cy="4676660"/>
          </a:xfrm>
        </p:spPr>
        <p:txBody>
          <a:bodyPr>
            <a:normAutofit lnSpcReduction="10000"/>
          </a:bodyPr>
          <a:lstStyle/>
          <a:p>
            <a:pPr lv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## Tasks</a:t>
            </a:r>
          </a:p>
          <a:p>
            <a:pPr lvl="0" indent="0"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1. Translate the source text 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@Condor_Ch04.zh.txt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, which is from a modern Chinese martial art (wuxia) novel, into idiomatic English, using the glossary of proper names and special terms from the file 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@</a:t>
            </a:r>
            <a:r>
              <a:rPr lang="en-US" altLang="zh-CN" sz="2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Condor_glossary.txt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pPr lv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2. Name the English translation 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Condor_Ch04.en.txt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pPr lvl="0" indent="0">
              <a:buNone/>
            </a:pPr>
            <a:endParaRPr lang="en-US" sz="2800" b="1" dirty="0">
              <a:solidFill>
                <a:schemeClr val="tx1"/>
              </a:solidFill>
            </a:endParaRPr>
          </a:p>
          <a:p>
            <a:pPr lv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Exercise: </a:t>
            </a:r>
            <a:r>
              <a:rPr lang="en-US" sz="2800" dirty="0">
                <a:solidFill>
                  <a:schemeClr val="tx1"/>
                </a:solidFill>
              </a:rPr>
              <a:t>Ask Antigravity CLI to align </a:t>
            </a:r>
            <a:r>
              <a:rPr lang="en-US" altLang="zh-CN" sz="2800" b="1" dirty="0">
                <a:solidFill>
                  <a:srgbClr val="0070C0"/>
                </a:solidFill>
                <a:latin typeface="Consolas" panose="020B0609020204030204" pitchFamily="49" charset="0"/>
              </a:rPr>
              <a:t>Condor_Ch04.zh.txt</a:t>
            </a:r>
            <a:r>
              <a:rPr lang="en-US" sz="2800" dirty="0">
                <a:solidFill>
                  <a:schemeClr val="tx1"/>
                </a:solidFill>
              </a:rPr>
              <a:t> and </a:t>
            </a:r>
            <a:r>
              <a:rPr lang="en-US" altLang="zh-CN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Condor_Ch04.en.txt</a:t>
            </a:r>
            <a:r>
              <a:rPr lang="en-US" sz="2800" dirty="0">
                <a:solidFill>
                  <a:schemeClr val="tx1"/>
                </a:solidFill>
              </a:rPr>
              <a:t> at the sentence level, and then spot check to see if the LLM has translated names and terms according to your glossary.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69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24" y="727112"/>
            <a:ext cx="9747890" cy="1217924"/>
          </a:xfrm>
        </p:spPr>
        <p:txBody>
          <a:bodyPr/>
          <a:lstStyle/>
          <a:p>
            <a:pPr marL="0" lvl="0" indent="0" algn="ctr">
              <a:buNone/>
            </a:pPr>
            <a:r>
              <a:rPr sz="3600" dirty="0"/>
              <a:t>Task 3: </a:t>
            </a:r>
            <a:br>
              <a:rPr lang="en-US" dirty="0"/>
            </a:br>
            <a:r>
              <a:rPr lang="en-US" sz="4400" dirty="0" err="1"/>
              <a:t>OCR’ing</a:t>
            </a:r>
            <a:r>
              <a:rPr lang="en-US" sz="4400" dirty="0"/>
              <a:t> Classical Chinese Text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911" y="2346593"/>
            <a:ext cx="10972799" cy="4511407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400" b="1" dirty="0"/>
              <a:t>Scenario: </a:t>
            </a:r>
            <a:r>
              <a:rPr lang="en-US" sz="2400" dirty="0"/>
              <a:t>You’d like to extract editable text from a scanned, vertically printed </a:t>
            </a:r>
            <a:r>
              <a:rPr sz="2400" dirty="0"/>
              <a:t>Classical Chinese </a:t>
            </a:r>
            <a:r>
              <a:rPr lang="en-US" sz="2400" dirty="0"/>
              <a:t>text in PDF format via </a:t>
            </a:r>
            <a:r>
              <a:rPr sz="2400" dirty="0"/>
              <a:t>OCR</a:t>
            </a:r>
            <a:r>
              <a:rPr lang="en-US" sz="2400" dirty="0"/>
              <a:t> (optical character recognition)</a:t>
            </a:r>
            <a:endParaRPr sz="2400" dirty="0"/>
          </a:p>
          <a:p>
            <a:pPr marL="0" lvl="0" indent="0">
              <a:buNone/>
            </a:pPr>
            <a:r>
              <a:rPr sz="2400" b="1" dirty="0"/>
              <a:t>Challenge</a:t>
            </a:r>
            <a:r>
              <a:rPr sz="2400" dirty="0"/>
              <a:t>: Scanned PDFs of vertical</a:t>
            </a:r>
            <a:r>
              <a:rPr lang="en-US" sz="2400" dirty="0"/>
              <a:t>ly written/printed</a:t>
            </a:r>
            <a:r>
              <a:rPr sz="2400" dirty="0"/>
              <a:t> text</a:t>
            </a:r>
            <a:r>
              <a:rPr lang="en-US" sz="2400" dirty="0"/>
              <a:t>; text with tables</a:t>
            </a:r>
            <a:endParaRPr sz="2400" dirty="0"/>
          </a:p>
          <a:p>
            <a:pPr marL="0" lvl="0" indent="0">
              <a:buNone/>
            </a:pPr>
            <a:r>
              <a:rPr sz="2400" b="1" dirty="0"/>
              <a:t>The Solution</a:t>
            </a:r>
            <a:r>
              <a:rPr sz="2400" dirty="0"/>
              <a:t>:</a:t>
            </a:r>
            <a:r>
              <a:rPr lang="en-US" sz="2400" dirty="0"/>
              <a:t> Gemini 3 Flash, a</a:t>
            </a:r>
            <a:r>
              <a:rPr sz="2400" dirty="0"/>
              <a:t> </a:t>
            </a:r>
            <a:r>
              <a:rPr lang="en-US" sz="2400" dirty="0"/>
              <a:t>m</a:t>
            </a:r>
            <a:r>
              <a:rPr sz="2400" dirty="0"/>
              <a:t>ultimodal </a:t>
            </a:r>
            <a:r>
              <a:rPr lang="en-US" sz="2400" dirty="0"/>
              <a:t>(text + v</a:t>
            </a:r>
            <a:r>
              <a:rPr sz="2400" dirty="0"/>
              <a:t>ision</a:t>
            </a:r>
            <a:r>
              <a:rPr lang="en-US" sz="2400" dirty="0"/>
              <a:t>)</a:t>
            </a:r>
            <a:r>
              <a:rPr sz="2400" dirty="0"/>
              <a:t> </a:t>
            </a:r>
            <a:r>
              <a:rPr lang="en-US" sz="2400" dirty="0"/>
              <a:t>LLM, </a:t>
            </a:r>
            <a:r>
              <a:rPr sz="2400" dirty="0"/>
              <a:t>AI that “sees” and understands context</a:t>
            </a:r>
          </a:p>
          <a:p>
            <a:pPr marL="0" lvl="0" indent="0">
              <a:buNone/>
            </a:pPr>
            <a:r>
              <a:rPr sz="2400" b="1" dirty="0"/>
              <a:t>The </a:t>
            </a:r>
            <a:r>
              <a:rPr lang="en-US" sz="2400" b="1" dirty="0"/>
              <a:t>Prompt</a:t>
            </a:r>
            <a:r>
              <a:rPr sz="2400" b="1" dirty="0"/>
              <a:t>:</a:t>
            </a:r>
          </a:p>
          <a:p>
            <a:pPr lv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Extract </a:t>
            </a:r>
            <a:r>
              <a:rPr sz="2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Chinese text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from </a:t>
            </a:r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zh-TW" altLang="en-US" sz="2400" b="1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Consolas" panose="020B0609020204030204" pitchFamily="49" charset="0"/>
              </a:rPr>
              <a:t> 南宋抗金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pdf 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 save the output to a </a:t>
            </a:r>
            <a:r>
              <a:rPr sz="2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Markdown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file with the same file name and the file extension </a:t>
            </a:r>
            <a:r>
              <a:rPr lang="en-US" altLang="zh-TW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.md </a:t>
            </a:r>
            <a:r>
              <a:rPr lang="en-US" altLang="zh-TW" sz="2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please. Ignore page boundaries and numbers and reconstitute broken sentences and paragraphs into complete units. 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 Markdown tables if the PDF pages contain tables. Place all footnotes in a separate section at the end of the Markdown file, with each footnote on its separate line and add a blank line between footnotes.</a:t>
            </a:r>
            <a:endParaRPr sz="2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sz="4400" b="1" dirty="0"/>
              <a:t>Cloud Shell </a:t>
            </a:r>
            <a:r>
              <a:rPr sz="4400" dirty="0"/>
              <a:t>Workflow</a:t>
            </a:r>
            <a:r>
              <a:rPr lang="en-US" sz="4400" dirty="0"/>
              <a:t> Summary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877" y="2603500"/>
            <a:ext cx="11200023" cy="374700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sz="2800" b="1" dirty="0"/>
              <a:t>Viewing </a:t>
            </a:r>
            <a:r>
              <a:rPr lang="en-US" sz="2800" b="1" dirty="0"/>
              <a:t>f</a:t>
            </a:r>
            <a:r>
              <a:rPr sz="2800" b="1" dirty="0"/>
              <a:t>iles</a:t>
            </a:r>
            <a:r>
              <a:rPr lang="en-US" sz="2800" b="1" dirty="0"/>
              <a:t> in Editor</a:t>
            </a:r>
            <a:r>
              <a:rPr sz="2800" dirty="0"/>
              <a:t>: Click the </a:t>
            </a:r>
            <a:r>
              <a:rPr sz="2800" b="1" dirty="0"/>
              <a:t>“Open Editor”</a:t>
            </a:r>
            <a:r>
              <a:rPr sz="2800" dirty="0"/>
              <a:t> (Pencil Icon) in the top-right toolbar.</a:t>
            </a:r>
            <a:endParaRPr lang="en-US" sz="2800" dirty="0"/>
          </a:p>
          <a:p>
            <a:pPr lvl="0"/>
            <a:r>
              <a:rPr lang="en-US" sz="2800" b="1" dirty="0"/>
              <a:t>Accessing the Terminal</a:t>
            </a:r>
            <a:r>
              <a:rPr lang="en-US" sz="2800" dirty="0"/>
              <a:t>: Click the </a:t>
            </a:r>
            <a:r>
              <a:rPr lang="en-US" sz="2800" b="1" dirty="0"/>
              <a:t>“Open Terminal”</a:t>
            </a:r>
            <a:r>
              <a:rPr lang="en-US" sz="2800" dirty="0"/>
              <a:t> (screen Icon) </a:t>
            </a:r>
            <a:endParaRPr sz="2800" dirty="0"/>
          </a:p>
          <a:p>
            <a:pPr lvl="0"/>
            <a:r>
              <a:rPr sz="2800" b="1" dirty="0"/>
              <a:t>Uploading</a:t>
            </a:r>
            <a:r>
              <a:rPr lang="en-US" sz="2800" b="1" dirty="0"/>
              <a:t> files</a:t>
            </a:r>
            <a:r>
              <a:rPr sz="2800" dirty="0"/>
              <a:t>: Drag and drop files from your </a:t>
            </a:r>
            <a:r>
              <a:rPr lang="en-US" sz="2800" dirty="0"/>
              <a:t>laptop</a:t>
            </a:r>
            <a:r>
              <a:rPr sz="2800" dirty="0"/>
              <a:t> into </a:t>
            </a:r>
            <a:r>
              <a:rPr lang="en-US" sz="2800" dirty="0"/>
              <a:t>Cloud Shell editor’s</a:t>
            </a:r>
            <a:r>
              <a:rPr sz="2800" dirty="0"/>
              <a:t> </a:t>
            </a:r>
            <a:r>
              <a:rPr lang="en-US" sz="2800" dirty="0"/>
              <a:t>S</a:t>
            </a:r>
            <a:r>
              <a:rPr sz="2800" dirty="0"/>
              <a:t>idebar</a:t>
            </a:r>
            <a:r>
              <a:rPr lang="en-US" sz="2800" dirty="0"/>
              <a:t> (File Area)</a:t>
            </a:r>
            <a:r>
              <a:rPr sz="2800" dirty="0"/>
              <a:t>.</a:t>
            </a:r>
          </a:p>
          <a:p>
            <a:pPr lvl="0"/>
            <a:r>
              <a:rPr sz="2800" b="1" dirty="0"/>
              <a:t>Downloading</a:t>
            </a:r>
            <a:r>
              <a:rPr sz="2800" dirty="0"/>
              <a:t>: Right-click any file in the Editor </a:t>
            </a:r>
            <a:r>
              <a:rPr lang="en-US" sz="2800" dirty="0"/>
              <a:t>S</a:t>
            </a:r>
            <a:r>
              <a:rPr sz="2800" dirty="0"/>
              <a:t>idebar </a:t>
            </a:r>
            <a:r>
              <a:rPr lang="en-US" sz="2800" dirty="0">
                <a:sym typeface="Wingdings" pitchFamily="2" charset="2"/>
              </a:rPr>
              <a:t></a:t>
            </a:r>
            <a:r>
              <a:rPr sz="2800" dirty="0"/>
              <a:t> </a:t>
            </a:r>
            <a:r>
              <a:rPr sz="2800" b="1" dirty="0"/>
              <a:t>Download</a:t>
            </a:r>
            <a:r>
              <a:rPr lang="en-US" sz="2800" b="1" dirty="0"/>
              <a:t>...</a:t>
            </a:r>
            <a:r>
              <a:rPr lang="en-US" sz="2800" dirty="0"/>
              <a:t> to transfer results from the cloud to your laptop. </a:t>
            </a:r>
            <a:endParaRPr sz="2800" dirty="0"/>
          </a:p>
          <a:p>
            <a:pPr lvl="0"/>
            <a:r>
              <a:rPr sz="2800" b="1" dirty="0"/>
              <a:t>Closing</a:t>
            </a:r>
            <a:r>
              <a:rPr sz="2800" dirty="0"/>
              <a:t>: Type </a:t>
            </a:r>
            <a:r>
              <a:rPr sz="28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sz="2800" dirty="0"/>
              <a:t> in the terminal </a:t>
            </a:r>
            <a:r>
              <a:rPr lang="en-US" sz="2800" dirty="0"/>
              <a:t>and close the web page when done</a:t>
            </a:r>
            <a:endParaRPr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1A415-3295-9F48-1D98-01AC82498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6252-087B-C0FE-9EA0-103AC3004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465" y="991518"/>
            <a:ext cx="10049200" cy="777249"/>
          </a:xfrm>
        </p:spPr>
        <p:txBody>
          <a:bodyPr/>
          <a:lstStyle/>
          <a:p>
            <a:pPr marL="0" lvl="0" indent="0">
              <a:buNone/>
            </a:pPr>
            <a:r>
              <a:rPr lang="en-US" sz="3600" b="1" dirty="0"/>
              <a:t>So, what else can you do with an AI agent?</a:t>
            </a:r>
            <a:endParaRPr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2AE42-AAD2-070D-63A2-6B453005E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877" y="2423711"/>
            <a:ext cx="11071951" cy="4065224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800" b="1" dirty="0"/>
              <a:t>Review translation quality </a:t>
            </a:r>
            <a:r>
              <a:rPr lang="en-US" sz="2800" dirty="0"/>
              <a:t>(your own, another translator’s):</a:t>
            </a:r>
          </a:p>
          <a:p>
            <a:pPr lvl="1"/>
            <a:r>
              <a:rPr lang="en-US" sz="2200" dirty="0"/>
              <a:t>Grammar, vocabulary choice, register, style</a:t>
            </a:r>
          </a:p>
          <a:p>
            <a:pPr lvl="1"/>
            <a:r>
              <a:rPr lang="en-US" sz="2200" dirty="0"/>
              <a:t>Adherence to “official” term base or glossary</a:t>
            </a:r>
          </a:p>
          <a:p>
            <a:r>
              <a:rPr lang="en-US" sz="2800" b="1" dirty="0"/>
              <a:t>Collect bilingual texts </a:t>
            </a:r>
            <a:r>
              <a:rPr lang="en-US" sz="2800" dirty="0"/>
              <a:t>(news articles, laws, regulations) to build parallel corpora</a:t>
            </a:r>
          </a:p>
          <a:p>
            <a:r>
              <a:rPr lang="en-US" sz="2800" b="1" dirty="0"/>
              <a:t>Translate a new document </a:t>
            </a:r>
            <a:r>
              <a:rPr lang="en-US" sz="2800" dirty="0"/>
              <a:t>based on/in inference to past translations of documents of the same type. The challenge is to provide the right (</a:t>
            </a:r>
            <a:r>
              <a:rPr lang="en-US" sz="2800" dirty="0">
                <a:solidFill>
                  <a:srgbClr val="C00000"/>
                </a:solidFill>
              </a:rPr>
              <a:t>relevant</a:t>
            </a:r>
            <a:r>
              <a:rPr lang="en-US" sz="2800" dirty="0"/>
              <a:t>) </a:t>
            </a:r>
            <a:r>
              <a:rPr lang="en-US" sz="2800" dirty="0">
                <a:solidFill>
                  <a:srgbClr val="C00000"/>
                </a:solidFill>
              </a:rPr>
              <a:t>context</a:t>
            </a:r>
            <a:r>
              <a:rPr lang="en-US" sz="2800" dirty="0"/>
              <a:t> to </a:t>
            </a:r>
            <a:r>
              <a:rPr lang="en-US" sz="2800" dirty="0">
                <a:solidFill>
                  <a:srgbClr val="C00000"/>
                </a:solidFill>
              </a:rPr>
              <a:t>steer</a:t>
            </a:r>
            <a:r>
              <a:rPr lang="en-US" sz="2800" dirty="0"/>
              <a:t> translation output.</a:t>
            </a:r>
          </a:p>
          <a:p>
            <a:pPr lvl="1"/>
            <a:r>
              <a:rPr lang="en-US" sz="2200" dirty="0">
                <a:sym typeface="Wingdings" pitchFamily="2" charset="2"/>
              </a:rPr>
              <a:t> Remember, “glossary” is one type of “context”.</a:t>
            </a:r>
            <a:endParaRPr lang="en-US" sz="22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14404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62708"/>
            <a:ext cx="9961065" cy="1217924"/>
          </a:xfrm>
        </p:spPr>
        <p:txBody>
          <a:bodyPr/>
          <a:lstStyle/>
          <a:p>
            <a:r>
              <a:rPr sz="4000" dirty="0"/>
              <a:t>Thank You!</a:t>
            </a:r>
            <a:r>
              <a:rPr lang="en-US" sz="4400" dirty="0"/>
              <a:t> </a:t>
            </a:r>
            <a:r>
              <a:rPr lang="en-US" sz="3600" dirty="0"/>
              <a:t>Time for Q&amp;A, but first …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414" y="2412694"/>
            <a:ext cx="11215172" cy="4307593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sz="2800" b="1" dirty="0"/>
              <a:t>Remember to shut down:</a:t>
            </a:r>
            <a:r>
              <a:rPr sz="2800" dirty="0"/>
              <a:t> Type </a:t>
            </a:r>
            <a:r>
              <a:rPr sz="28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sz="2800" dirty="0"/>
              <a:t> in your terminal now.</a:t>
            </a:r>
            <a:r>
              <a:rPr lang="en-US" sz="2800" dirty="0"/>
              <a:t> </a:t>
            </a:r>
            <a:r>
              <a:rPr lang="en-TW" sz="2800" dirty="0"/>
              <a:t>Google provides only 50 hours of free Cloud Shell usage per week, so exit when you’re done to prevent idleness from burning through your quota.</a:t>
            </a:r>
          </a:p>
          <a:p>
            <a:pPr marL="0" lvl="0" indent="0">
              <a:buNone/>
            </a:pPr>
            <a:endParaRPr lang="en-TW" sz="2800" dirty="0"/>
          </a:p>
          <a:p>
            <a:pPr marL="0" indent="0">
              <a:buNone/>
            </a:pPr>
            <a:r>
              <a:rPr lang="en-TW" sz="2800" b="1" i="1" dirty="0"/>
              <a:t>Bonus</a:t>
            </a:r>
            <a:r>
              <a:rPr lang="en-TW" sz="2800" dirty="0"/>
              <a:t>!!</a:t>
            </a:r>
          </a:p>
          <a:p>
            <a:pPr marL="0" indent="0">
              <a:buNone/>
            </a:pPr>
            <a:r>
              <a:rPr lang="zh-TW" altLang="en-US" sz="2800" b="1" dirty="0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Consolas" panose="020B0609020204030204" pitchFamily="49" charset="0"/>
              </a:rPr>
              <a:t>全國法規資料庫 華英檢索系統</a:t>
            </a:r>
            <a:endParaRPr lang="en-TW" sz="2800" b="1" dirty="0">
              <a:solidFill>
                <a:srgbClr val="C0000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https://huggingface.co/spaces/rubentsui/TWL2</a:t>
            </a:r>
            <a:endParaRPr lang="en-US" sz="2400" b="1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C00000"/>
                </a:solidFill>
              </a:rPr>
              <a:t>bilingual concordancer </a:t>
            </a:r>
            <a:r>
              <a:rPr lang="en-US" sz="2800" dirty="0"/>
              <a:t>app I “vibe-coded” in two days, from raw data collection, data preprocessing, and web UI design and coding.</a:t>
            </a:r>
          </a:p>
          <a:p>
            <a:pPr marL="0" lvl="0" indent="0">
              <a:buNone/>
            </a:pPr>
            <a:endParaRPr lang="en-US" sz="2800" dirty="0"/>
          </a:p>
          <a:p>
            <a:pPr marL="0" lvl="0" indent="0">
              <a:buNone/>
            </a:pPr>
            <a:endParaRPr sz="2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Helvetica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Helvetica"/>
        <a:font script="Hebr" typeface="Helvetic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elvetica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5249</TotalTime>
  <Words>1625</Words>
  <Application>Microsoft Macintosh PowerPoint</Application>
  <PresentationFormat>Widescreen</PresentationFormat>
  <Paragraphs>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Microsoft JhengHei</vt:lpstr>
      <vt:lpstr>Microsoft JhengHei UI</vt:lpstr>
      <vt:lpstr>Arial</vt:lpstr>
      <vt:lpstr>Consolas</vt:lpstr>
      <vt:lpstr>Helvetica</vt:lpstr>
      <vt:lpstr>Wingdings</vt:lpstr>
      <vt:lpstr>Wingdings 3</vt:lpstr>
      <vt:lpstr>Ion Boardroom</vt:lpstr>
      <vt:lpstr>臺師大翻譯所 推廣班 115-1【筆譯6小時工作坊】AI翻譯科技入門   The Agentic AI Translator’s Workbench</vt:lpstr>
      <vt:lpstr>About the instructor Ruben G. Tsui 徐嘉煜</vt:lpstr>
      <vt:lpstr> 本課程電子資源 https://github.com/ruben-tsui   點選左上角 Repositories   點選 NTNU_GITI_TT_260919</vt:lpstr>
      <vt:lpstr>Agenda</vt:lpstr>
      <vt:lpstr>Our Computing Environment for the Day Cloud-based; No Installation Required</vt:lpstr>
      <vt:lpstr>Introducing the AI arness Antigravity CLI  練習資料包下載網址 https://github.com/ruben-tsui   點選左上角 Repositories   點選 NTNU_GITI_TT_260919 </vt:lpstr>
      <vt:lpstr>What is Antigravity CLI? (CLI = command-line interface) (opposite of GUI = graphical user interface)</vt:lpstr>
      <vt:lpstr>In a nutshell, Antigravity CLI …</vt:lpstr>
      <vt:lpstr>Task 1:  Bitext Alignment &amp; Glossary Extraction (1/3)</vt:lpstr>
      <vt:lpstr>Task 1:  Bitext Alignment &amp; Glossary Extraction (2/3)</vt:lpstr>
      <vt:lpstr>Task 1:  Bitext Alignment &amp; Glossary Extraction (3/3)</vt:lpstr>
      <vt:lpstr>PowerPoint Presentation</vt:lpstr>
      <vt:lpstr>Task 2: Instruct AI to adopt your your glossary when translating (2/2)</vt:lpstr>
      <vt:lpstr>Task 3:  OCR’ing Classical Chinese Text</vt:lpstr>
      <vt:lpstr>Cloud Shell Workflow Summary</vt:lpstr>
      <vt:lpstr>So, what else can you do with an AI agent?</vt:lpstr>
      <vt:lpstr>Thank You! Time for Q&amp;A, but first …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Ion Boardroom</Template>
  <TotalTime>11083</TotalTime>
  <Words>3514</Words>
  <Application>Microsoft Office PowerPoint</Application>
  <PresentationFormat>Widescreen</PresentationFormat>
  <Paragraphs>249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標楷體</vt:lpstr>
      <vt:lpstr>微軟正黑體</vt:lpstr>
      <vt:lpstr>Arial</vt:lpstr>
      <vt:lpstr>Calibri</vt:lpstr>
      <vt:lpstr>Century Gothic</vt:lpstr>
      <vt:lpstr>Consolas</vt:lpstr>
      <vt:lpstr>Helvetica</vt:lpstr>
      <vt:lpstr>Palatino Linotype</vt:lpstr>
      <vt:lpstr>Wingdings 3</vt:lpstr>
      <vt:lpstr>Ion Boardroom</vt:lpstr>
      <vt:lpstr>葛浩文在莫言小說中 針對難以處理中文之翻譯手法： 詩詞、方言、詛咒語、委婉語、習語（成語、俗語、格言、歇後語、諺語、俚語、行話等）</vt:lpstr>
      <vt:lpstr>莫言 Mo Yan 簡介</vt:lpstr>
      <vt:lpstr>莫言 Mo Yan 簡介</vt:lpstr>
      <vt:lpstr>莫言作品：長篇小説</vt:lpstr>
      <vt:lpstr>葛浩文 Howard Goldblatt 簡介</vt:lpstr>
      <vt:lpstr>由葛浩文翻譯的莫言長篇小說</vt:lpstr>
      <vt:lpstr>背景資料：山東方言</vt:lpstr>
      <vt:lpstr>背景資料：山東方言</vt:lpstr>
      <vt:lpstr>背景資料：山東方言</vt:lpstr>
      <vt:lpstr>背景資料：山東方言</vt:lpstr>
      <vt:lpstr>背景資料：山東方言</vt:lpstr>
      <vt:lpstr>「嫚」錯譯?   (《蛙》第2部 第4章)</vt:lpstr>
      <vt:lpstr>重編國語辭典 修訂本 (中華民國教育部)</vt:lpstr>
      <vt:lpstr>漢語大詞典 (上海辭書出版社；收錄詞目37萬餘條)</vt:lpstr>
      <vt:lpstr>歸化手法</vt:lpstr>
      <vt:lpstr>異化手法</vt:lpstr>
      <vt:lpstr>異化手法</vt:lpstr>
      <vt:lpstr>成語、四字詞</vt:lpstr>
      <vt:lpstr>成語、四字詞</vt:lpstr>
      <vt:lpstr>成語、四字詞</vt:lpstr>
      <vt:lpstr>成語、四字詞</vt:lpstr>
      <vt:lpstr>成語、四字詞</vt:lpstr>
      <vt:lpstr>成語、四字詞</vt:lpstr>
      <vt:lpstr>委婉語 Euphemisms (《蛙》)</vt:lpstr>
      <vt:lpstr>委婉語 Euphemisms</vt:lpstr>
      <vt:lpstr>委婉語 Euphemisms</vt:lpstr>
      <vt:lpstr>詛咒語/粗鄙話 Expletives/Profanities</vt:lpstr>
      <vt:lpstr>漢語文化特有詞語  Concepts/objects unique to Chinese culture</vt:lpstr>
      <vt:lpstr>漢語文化特有詞語  Concepts/objects unique to Chinese culture</vt:lpstr>
      <vt:lpstr>漢語文化特有詞語  Concepts/objects unique to Chinese culture</vt:lpstr>
      <vt:lpstr>漢語文化特有詞語  Concepts/objects unique to Chinese culture</vt:lpstr>
      <vt:lpstr>漢語文化特有詞語  Concepts/objects unique to Chinese culture</vt:lpstr>
      <vt:lpstr>漢語文化特有詞語  Concepts/objects unique to Chinese culture</vt:lpstr>
      <vt:lpstr>熟語 Idiomatic expressions</vt:lpstr>
      <vt:lpstr>熟語 Idiomatic expressions</vt:lpstr>
      <vt:lpstr>諺語 Adages / Proverbs</vt:lpstr>
      <vt:lpstr>諺語 Adages / Proverbs</vt:lpstr>
      <vt:lpstr>隱喻 / 詼諧詞語  Metaphorical / humorous expressions</vt:lpstr>
      <vt:lpstr>貓腔《檀香刑》‧ 雅調 Maoqiang Sandalwood Death. A Noble Air</vt:lpstr>
      <vt:lpstr>貓腔《檀香刑》‧ 雅調 Maoqiang Sandalwood Death. A Noble Air</vt:lpstr>
      <vt:lpstr>貓腔《檀香刑》‧ 雅調 Maoqiang Sandalwood Death. A Noble Air</vt:lpstr>
      <vt:lpstr>貓腔《檀香刑》‧ 雅調 Maoqiang Sandalwood Death. A Noble Air</vt:lpstr>
      <vt:lpstr>貓腔《檀香刑》‧ 雅調 Maoqiang Sandalwood Death. A Noble Air</vt:lpstr>
      <vt:lpstr>貓腔《檀香刑》‧ 雅調 Maoqiang Sandalwood Death. A Noble Air</vt:lpstr>
      <vt:lpstr>貓腔《檀香刑》‧ 雅調 Maoqiang Sandalwood Death. A Noble Air</vt:lpstr>
      <vt:lpstr>貓腔《檀香刑》‧ 雅調 Maoqiang Sandalwood Death. A Noble Air</vt:lpstr>
      <vt:lpstr>參考⽂獻 References</vt:lpstr>
      <vt:lpstr>參考⽂獻 References</vt:lpstr>
      <vt:lpstr>謝謝大家!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Agentic AI Translator</dc:title>
  <dc:creator/>
  <cp:keywords/>
  <cp:lastModifiedBy>Reviewer</cp:lastModifiedBy>
  <cp:revision>206</cp:revision>
  <dcterms:created xsi:type="dcterms:W3CDTF">2026-04-16T06:22:12Z</dcterms:created>
  <dcterms:modified xsi:type="dcterms:W3CDTF">2026-09-19T05:07:31Z</dcterms:modified>
</cp:coreProperties>
</file>